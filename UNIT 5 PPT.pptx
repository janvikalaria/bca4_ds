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442" r:id="rId2"/>
    <p:sldId id="292" r:id="rId3"/>
    <p:sldId id="387" r:id="rId4"/>
    <p:sldId id="406" r:id="rId5"/>
    <p:sldId id="407" r:id="rId6"/>
    <p:sldId id="549" r:id="rId7"/>
    <p:sldId id="409" r:id="rId8"/>
    <p:sldId id="410" r:id="rId9"/>
    <p:sldId id="411" r:id="rId10"/>
    <p:sldId id="412" r:id="rId11"/>
    <p:sldId id="567" r:id="rId12"/>
    <p:sldId id="346" r:id="rId13"/>
    <p:sldId id="551" r:id="rId14"/>
    <p:sldId id="413" r:id="rId15"/>
    <p:sldId id="570" r:id="rId16"/>
    <p:sldId id="414" r:id="rId17"/>
    <p:sldId id="415" r:id="rId18"/>
    <p:sldId id="416" r:id="rId19"/>
    <p:sldId id="417" r:id="rId20"/>
    <p:sldId id="418" r:id="rId21"/>
    <p:sldId id="419" r:id="rId22"/>
    <p:sldId id="550" r:id="rId23"/>
    <p:sldId id="420" r:id="rId24"/>
    <p:sldId id="571" r:id="rId25"/>
    <p:sldId id="421" r:id="rId26"/>
    <p:sldId id="423" r:id="rId27"/>
    <p:sldId id="510" r:id="rId28"/>
    <p:sldId id="552" r:id="rId29"/>
    <p:sldId id="436" r:id="rId30"/>
    <p:sldId id="572" r:id="rId31"/>
    <p:sldId id="445" r:id="rId32"/>
    <p:sldId id="561" r:id="rId33"/>
    <p:sldId id="562" r:id="rId34"/>
    <p:sldId id="563" r:id="rId35"/>
    <p:sldId id="564" r:id="rId36"/>
    <p:sldId id="565" r:id="rId37"/>
    <p:sldId id="557" r:id="rId38"/>
    <p:sldId id="433" r:id="rId39"/>
    <p:sldId id="434" r:id="rId40"/>
    <p:sldId id="435" r:id="rId41"/>
    <p:sldId id="546" r:id="rId42"/>
    <p:sldId id="547" r:id="rId43"/>
    <p:sldId id="548" r:id="rId44"/>
    <p:sldId id="558" r:id="rId45"/>
    <p:sldId id="425" r:id="rId46"/>
    <p:sldId id="426" r:id="rId47"/>
    <p:sldId id="427" r:id="rId48"/>
    <p:sldId id="428" r:id="rId49"/>
    <p:sldId id="429" r:id="rId50"/>
    <p:sldId id="430" r:id="rId51"/>
    <p:sldId id="431" r:id="rId52"/>
    <p:sldId id="432" r:id="rId53"/>
    <p:sldId id="443" r:id="rId54"/>
  </p:sldIdLst>
  <p:sldSz cx="12192000" cy="6858000"/>
  <p:notesSz cx="6858000" cy="9144000"/>
  <p:embeddedFontLst>
    <p:embeddedFont>
      <p:font typeface="Wingdings 2" panose="05020102010507070707" pitchFamily="18" charset="2"/>
      <p:regular r:id="rId57"/>
    </p:embeddedFont>
    <p:embeddedFont>
      <p:font typeface="Roboto Condensed" panose="02000000000000000000" pitchFamily="2" charset="0"/>
      <p:regular r:id="rId58"/>
      <p:bold r:id="rId59"/>
      <p:italic r:id="rId60"/>
      <p:boldItalic r:id="rId61"/>
    </p:embeddedFon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Roboto Condensed Light" panose="02000000000000000000" pitchFamily="2" charset="0"/>
      <p:regular r:id="rId66"/>
      <p:italic r:id="rId67"/>
    </p:embeddedFont>
    <p:embeddedFont>
      <p:font typeface="Consolas" panose="020B0609020204030204" pitchFamily="49" charset="0"/>
      <p:regular r:id="rId68"/>
      <p:bold r:id="rId69"/>
      <p:italic r:id="rId70"/>
      <p:boldItalic r:id="rId71"/>
    </p:embeddedFont>
    <p:embeddedFont>
      <p:font typeface="Segoe UI Black" panose="020B0A02040204020203" pitchFamily="34" charset="0"/>
      <p:bold r:id="rId72"/>
      <p:boldItalic r:id="rId73"/>
    </p:embeddedFont>
    <p:embeddedFont>
      <p:font typeface="Wingdings 3" panose="05040102010807070707" pitchFamily="18" charset="2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/PbPTnBdcKtUUhKjGJeEA==" hashData="Vlo3t1u0klgmB22NPXap6j5VPP37XK+Njr0c7uI56DWWm090+6KaJ/O00A8RrcUiWHd+/cjy94OyOzzApYh9d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B84742"/>
    <a:srgbClr val="9A0000"/>
    <a:srgbClr val="0000FF"/>
    <a:srgbClr val="00FF00"/>
    <a:srgbClr val="16745B"/>
    <a:srgbClr val="007D8E"/>
    <a:srgbClr val="0F5140"/>
    <a:srgbClr val="007635"/>
    <a:srgbClr val="2FA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938" autoAdjust="0"/>
  </p:normalViewPr>
  <p:slideViewPr>
    <p:cSldViewPr snapToGrid="0">
      <p:cViewPr varScale="1">
        <p:scale>
          <a:sx n="79" d="100"/>
          <a:sy n="79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notesViewPr>
    <p:cSldViewPr snapToGrid="0">
      <p:cViewPr varScale="1">
        <p:scale>
          <a:sx n="64" d="100"/>
          <a:sy n="64" d="100"/>
        </p:scale>
        <p:origin x="-31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94" y="1609868"/>
            <a:ext cx="2694401" cy="32817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FBAF5D9-5993-64D4-F670-23A958E5493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16CB460-B7BB-AAD2-3492-6A6BDC27075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B0F6E3-F443-13EA-3F1A-18F97FEA970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9C6B4AB0-0C4B-F599-78A9-40AA22021DE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B5E5510-FD4C-B4C2-BE57-738DCFAEE66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52A79B-598A-CD92-C335-D7A49A8E8FD9}"/>
              </a:ext>
            </a:extLst>
          </p:cNvPr>
          <p:cNvGrpSpPr/>
          <p:nvPr userDrawn="1"/>
        </p:nvGrpSpPr>
        <p:grpSpPr>
          <a:xfrm>
            <a:off x="9844601" y="6157543"/>
            <a:ext cx="2554142" cy="650953"/>
            <a:chOff x="9437224" y="6087939"/>
            <a:chExt cx="2554142" cy="6509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12CB3F-8092-38C8-5C8B-925001DF45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6A71B0-0C01-FDBE-210C-342522AD24A0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6A17A-7479-674E-E88F-817A8DC6692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1D4F1-B9D3-AEF8-A7E4-3A493D24975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FD6D5-B7C8-BD30-8E9D-60DBA52CF9D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2E8D8-D6FF-5063-4EE6-996968F9BD4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67849-5C66-8D7B-DD20-E6471E523F8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D1F46-679E-0E61-61AF-EF31916AAB06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280145" cy="2563094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Searching &amp; </a:t>
            </a:r>
            <a:br>
              <a:rPr lang="en-US" sz="6000" dirty="0"/>
            </a:br>
            <a:r>
              <a:rPr lang="en-US" sz="6000" dirty="0"/>
              <a:t>Sorting</a:t>
            </a:r>
            <a:endParaRPr lang="en-US" sz="6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97277 47317 (CE Department)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Shruti Maniar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6337D8C-443B-4C47-A28D-6B3C5497025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4" y="5211251"/>
            <a:ext cx="1353671" cy="1353599"/>
          </a:xfrm>
        </p:spPr>
      </p:pic>
    </p:spTree>
    <p:extLst>
      <p:ext uri="{BB962C8B-B14F-4D97-AF65-F5344CB8AC3E}">
        <p14:creationId xmlns:p14="http://schemas.microsoft.com/office/powerpoint/2010/main" val="284429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50638"/>
            <a:ext cx="96886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Searching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Linear Search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Binary Search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Sorting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Bubble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Selection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Insertion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Merge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Quick Sort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8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Linear/Sequential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computer science, </a:t>
            </a:r>
            <a:r>
              <a:rPr lang="en-IN" b="1" dirty="0">
                <a:solidFill>
                  <a:srgbClr val="C00000"/>
                </a:solidFill>
              </a:rPr>
              <a:t>linear search </a:t>
            </a:r>
            <a:r>
              <a:rPr lang="en-IN" dirty="0"/>
              <a:t>or </a:t>
            </a:r>
            <a:r>
              <a:rPr lang="en-IN" b="1" dirty="0">
                <a:solidFill>
                  <a:srgbClr val="C00000"/>
                </a:solidFill>
              </a:rPr>
              <a:t>sequential search </a:t>
            </a:r>
            <a:r>
              <a:rPr lang="en-IN" dirty="0"/>
              <a:t>is a method for finding a particular value in a list that consists of </a:t>
            </a:r>
            <a:r>
              <a:rPr lang="en-IN" b="1" dirty="0">
                <a:solidFill>
                  <a:srgbClr val="C00000"/>
                </a:solidFill>
              </a:rPr>
              <a:t>checking every </a:t>
            </a:r>
            <a:r>
              <a:rPr lang="en-IN" dirty="0"/>
              <a:t>one of its </a:t>
            </a:r>
            <a:r>
              <a:rPr lang="en-IN" b="1" dirty="0">
                <a:solidFill>
                  <a:srgbClr val="C00000"/>
                </a:solidFill>
              </a:rPr>
              <a:t>elements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one at a time </a:t>
            </a:r>
            <a:r>
              <a:rPr lang="en-IN" dirty="0"/>
              <a:t>and in sequence, </a:t>
            </a:r>
            <a:r>
              <a:rPr lang="en-IN" b="1" dirty="0">
                <a:solidFill>
                  <a:srgbClr val="C00000"/>
                </a:solidFill>
              </a:rPr>
              <a:t>until the desired one is found</a:t>
            </a:r>
            <a:r>
              <a:rPr lang="en-IN" dirty="0"/>
              <a:t>. </a:t>
            </a:r>
          </a:p>
          <a:p>
            <a:r>
              <a:rPr lang="en-IN" dirty="0"/>
              <a:t>Linear search is the simplest search algorithm.</a:t>
            </a:r>
          </a:p>
          <a:p>
            <a:r>
              <a:rPr lang="en-IN" dirty="0"/>
              <a:t>It is a special case of brute-force search. </a:t>
            </a:r>
          </a:p>
          <a:p>
            <a:r>
              <a:rPr lang="en-IN" dirty="0"/>
              <a:t>Its </a:t>
            </a:r>
            <a:r>
              <a:rPr lang="en-IN" b="1" dirty="0">
                <a:solidFill>
                  <a:srgbClr val="C00000"/>
                </a:solidFill>
              </a:rPr>
              <a:t>worst case cost </a:t>
            </a:r>
            <a:r>
              <a:rPr lang="en-IN" dirty="0"/>
              <a:t>is proportional to the </a:t>
            </a:r>
            <a:r>
              <a:rPr lang="en-IN" b="1" dirty="0">
                <a:solidFill>
                  <a:srgbClr val="C00000"/>
                </a:solidFill>
              </a:rPr>
              <a:t>number of elements in the list</a:t>
            </a:r>
            <a:r>
              <a:rPr lang="en-IN" dirty="0"/>
              <a:t>.</a:t>
            </a:r>
          </a:p>
          <a:p>
            <a:r>
              <a:rPr lang="en-IN" dirty="0"/>
              <a:t>Hence 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dirty="0"/>
              <a:t>time complexity of Linear Search is </a:t>
            </a:r>
            <a:r>
              <a:rPr lang="en-IN" b="1" dirty="0">
                <a:solidFill>
                  <a:srgbClr val="C00000"/>
                </a:solidFill>
              </a:rPr>
              <a:t>O(n)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8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– Algorithm &amp;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36" y="914400"/>
            <a:ext cx="4390251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Array A, integer key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 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  <a:r>
              <a:rPr lang="en-IN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Linear_Search</a:t>
            </a:r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for i = 0 to last index of A: 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 if A[i] equals key: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	 return i</a:t>
            </a:r>
          </a:p>
          <a:p>
            <a:endParaRPr lang="en-IN" dirty="0"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5064" y="914400"/>
            <a:ext cx="3570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1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36329"/>
              </p:ext>
            </p:extLst>
          </p:nvPr>
        </p:nvGraphicFramePr>
        <p:xfrm>
          <a:off x="8749380" y="959811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4455464" y="15239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55464" y="1676400"/>
            <a:ext cx="75662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Comparing value of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 with element to be search one by one until we get searched element or end of the array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455464" y="23621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55464" y="2362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i=0</a:t>
            </a:r>
            <a:endParaRPr lang="en-US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13153"/>
              </p:ext>
            </p:extLst>
          </p:nvPr>
        </p:nvGraphicFramePr>
        <p:xfrm>
          <a:off x="51679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396579" y="3352800"/>
            <a:ext cx="260008" cy="614065"/>
            <a:chOff x="457200" y="3505200"/>
            <a:chExt cx="260008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4455464" y="4271664"/>
            <a:ext cx="403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2402" y="428700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i=1</a:t>
            </a:r>
            <a:endParaRPr lang="en-US" b="1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051268"/>
              </p:ext>
            </p:extLst>
          </p:nvPr>
        </p:nvGraphicFramePr>
        <p:xfrm>
          <a:off x="5127765" y="479613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5356364" y="5253335"/>
            <a:ext cx="260008" cy="614065"/>
            <a:chOff x="457200" y="3505200"/>
            <a:chExt cx="260008" cy="614065"/>
          </a:xfrm>
        </p:grpSpPr>
        <p:sp>
          <p:nvSpPr>
            <p:cNvPr id="19" name="TextBox 18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>
            <a:off x="8494064" y="2362199"/>
            <a:ext cx="0" cy="388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05639" y="237377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i=2</a:t>
            </a:r>
            <a:endParaRPr lang="en-US" b="1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253651"/>
              </p:ext>
            </p:extLst>
          </p:nvPr>
        </p:nvGraphicFramePr>
        <p:xfrm>
          <a:off x="88255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9644663" y="3352800"/>
            <a:ext cx="260008" cy="614065"/>
            <a:chOff x="457200" y="3505200"/>
            <a:chExt cx="260008" cy="614065"/>
          </a:xfrm>
        </p:grpSpPr>
        <p:sp>
          <p:nvSpPr>
            <p:cNvPr id="25" name="TextBox 24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8494064" y="4264554"/>
            <a:ext cx="3665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4064" y="4267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i=3</a:t>
            </a:r>
            <a:endParaRPr lang="en-US" b="1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505076"/>
              </p:ext>
            </p:extLst>
          </p:nvPr>
        </p:nvGraphicFramePr>
        <p:xfrm>
          <a:off x="8814005" y="478902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0269814" y="5263587"/>
            <a:ext cx="260008" cy="614065"/>
            <a:chOff x="457200" y="3505200"/>
            <a:chExt cx="260008" cy="614065"/>
          </a:xfrm>
        </p:grpSpPr>
        <p:sp>
          <p:nvSpPr>
            <p:cNvPr id="31" name="TextBox 30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10867839" y="478902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51265" y="587906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Element found at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index, i=3</a:t>
            </a:r>
            <a:endParaRPr lang="en-US" b="1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4445394" y="711201"/>
            <a:ext cx="0" cy="58443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7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.05195 1.85185E-6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513 -4.81481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48148E-6 L 0.05508 1.48148E-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10" grpId="0" animBg="1"/>
      <p:bldP spid="16" grpId="0" animBg="1"/>
      <p:bldP spid="22" grpId="0" animBg="1"/>
      <p:bldP spid="28" grpId="0" animBg="1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an </a:t>
            </a:r>
            <a:r>
              <a:rPr lang="en-IN" b="1" dirty="0">
                <a:solidFill>
                  <a:srgbClr val="C00000"/>
                </a:solidFill>
              </a:rPr>
              <a:t>array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is </a:t>
            </a:r>
            <a:r>
              <a:rPr lang="en-IN" b="1" dirty="0">
                <a:solidFill>
                  <a:srgbClr val="C00000"/>
                </a:solidFill>
              </a:rPr>
              <a:t>sorted</a:t>
            </a:r>
            <a:r>
              <a:rPr lang="en-IN" dirty="0"/>
              <a:t>, we can use a much more </a:t>
            </a:r>
            <a:r>
              <a:rPr lang="en-IN" b="1" dirty="0">
                <a:solidFill>
                  <a:srgbClr val="C00000"/>
                </a:solidFill>
              </a:rPr>
              <a:t>efficient algorithm </a:t>
            </a:r>
            <a:r>
              <a:rPr lang="en-IN" dirty="0"/>
              <a:t>called a </a:t>
            </a:r>
            <a:r>
              <a:rPr lang="en-IN" b="1" dirty="0">
                <a:solidFill>
                  <a:srgbClr val="C00000"/>
                </a:solidFill>
              </a:rPr>
              <a:t>Binary Search</a:t>
            </a:r>
            <a:r>
              <a:rPr lang="en-IN" dirty="0"/>
              <a:t>.</a:t>
            </a:r>
          </a:p>
          <a:p>
            <a:r>
              <a:rPr lang="en-IN" dirty="0"/>
              <a:t>In binary search </a:t>
            </a:r>
            <a:r>
              <a:rPr lang="en-IN" b="1" dirty="0">
                <a:solidFill>
                  <a:srgbClr val="C00000"/>
                </a:solidFill>
              </a:rPr>
              <a:t>each time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divide array </a:t>
            </a:r>
            <a:r>
              <a:rPr lang="en-IN" dirty="0"/>
              <a:t>into </a:t>
            </a:r>
            <a:r>
              <a:rPr lang="en-IN" b="1" dirty="0">
                <a:solidFill>
                  <a:srgbClr val="C00000"/>
                </a:solidFill>
              </a:rPr>
              <a:t>two equal halves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compare middle element </a:t>
            </a:r>
            <a:r>
              <a:rPr lang="en-IN" dirty="0"/>
              <a:t>with </a:t>
            </a:r>
            <a:r>
              <a:rPr lang="en-IN" b="1" dirty="0">
                <a:solidFill>
                  <a:srgbClr val="C00000"/>
                </a:solidFill>
              </a:rPr>
              <a:t>search element</a:t>
            </a:r>
            <a:r>
              <a:rPr lang="en-IN" dirty="0"/>
              <a:t>.</a:t>
            </a:r>
          </a:p>
          <a:p>
            <a:r>
              <a:rPr lang="en-IN" dirty="0"/>
              <a:t>Thus 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dirty="0"/>
              <a:t>time complexity of Binary Search </a:t>
            </a:r>
            <a:r>
              <a:rPr lang="en-IN" b="1" dirty="0">
                <a:solidFill>
                  <a:srgbClr val="C00000"/>
                </a:solidFill>
              </a:rPr>
              <a:t>is O(log</a:t>
            </a:r>
            <a:r>
              <a:rPr lang="en-IN" b="1" baseline="-25000" dirty="0">
                <a:solidFill>
                  <a:srgbClr val="C00000"/>
                </a:solidFill>
              </a:rPr>
              <a:t>2</a:t>
            </a:r>
            <a:r>
              <a:rPr lang="en-IN" b="1" dirty="0">
                <a:solidFill>
                  <a:srgbClr val="C00000"/>
                </a:solidFill>
              </a:rPr>
              <a:t>n)</a:t>
            </a:r>
            <a:r>
              <a:rPr lang="en-IN" dirty="0"/>
              <a:t>.</a:t>
            </a:r>
          </a:p>
          <a:p>
            <a:r>
              <a:rPr lang="en-IN" dirty="0"/>
              <a:t>For the best kind of input, the search element could be found in one comparison only. So that the </a:t>
            </a:r>
            <a:r>
              <a:rPr lang="en-IN" b="1" dirty="0">
                <a:solidFill>
                  <a:srgbClr val="C00000"/>
                </a:solidFill>
              </a:rPr>
              <a:t>best case </a:t>
            </a:r>
            <a:r>
              <a:rPr lang="en-IN" dirty="0"/>
              <a:t>time complexity is </a:t>
            </a:r>
            <a:r>
              <a:rPr lang="en-IN" b="1" dirty="0">
                <a:solidFill>
                  <a:srgbClr val="C00000"/>
                </a:solidFill>
              </a:rPr>
              <a:t>O(1)</a:t>
            </a:r>
            <a:r>
              <a:rPr lang="en-IN" dirty="0"/>
              <a:t>.</a:t>
            </a:r>
          </a:p>
          <a:p>
            <a:r>
              <a:rPr lang="en-IN" dirty="0"/>
              <a:t>Searching Logic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equal to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then we got that element and </a:t>
            </a:r>
            <a:r>
              <a:rPr lang="en-IN" b="1" dirty="0">
                <a:solidFill>
                  <a:srgbClr val="C00000"/>
                </a:solidFill>
              </a:rPr>
              <a:t>return that index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less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look right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greater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look </a:t>
            </a:r>
            <a:r>
              <a:rPr lang="en-IN" b="1" dirty="0">
                <a:solidFill>
                  <a:srgbClr val="C00000"/>
                </a:solidFill>
              </a:rPr>
              <a:t>left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Algorithm (Iterative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6826"/>
            <a:ext cx="9189720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Sorted Array A, integer key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A, 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(A, left, right)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left = 0, right = n-1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while left &lt;= right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middle = index halfway between left, right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if A[middle] matches key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middle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 if key less than A[middle]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right = middle -1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left = middle + 1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303215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600" y="811365"/>
            <a:ext cx="876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6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2890"/>
              </p:ext>
            </p:extLst>
          </p:nvPr>
        </p:nvGraphicFramePr>
        <p:xfrm>
          <a:off x="2666999" y="140746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752600" y="31600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52800" y="3155596"/>
            <a:ext cx="600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Key=6, No of Elements = 10, so left = 0, right=9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36172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63604"/>
              </p:ext>
            </p:extLst>
          </p:nvPr>
        </p:nvGraphicFramePr>
        <p:xfrm>
          <a:off x="2667000" y="191096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52600" y="191771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6551" y="3684530"/>
            <a:ext cx="7674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(0+9)/2 </a:t>
            </a:r>
            <a:r>
              <a:rPr lang="en-IN" b="1" dirty="0">
                <a:solidFill>
                  <a:srgbClr val="C00000"/>
                </a:solidFill>
              </a:rPr>
              <a:t>= 4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a[4]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less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  <a:r>
              <a:rPr lang="en-IN" dirty="0"/>
              <a:t>, so </a:t>
            </a:r>
            <a:r>
              <a:rPr lang="en-IN" b="1" dirty="0"/>
              <a:t>right</a:t>
            </a:r>
            <a:r>
              <a:rPr lang="en-IN" dirty="0"/>
              <a:t> = middle – 1 = 4 – 1 = </a:t>
            </a:r>
            <a:r>
              <a:rPr lang="en-IN" b="1" dirty="0">
                <a:solidFill>
                  <a:srgbClr val="C00000"/>
                </a:solidFill>
              </a:rPr>
              <a:t>3, left = 0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3747"/>
              </p:ext>
            </p:extLst>
          </p:nvPr>
        </p:nvGraphicFramePr>
        <p:xfrm>
          <a:off x="2462665" y="469464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72964"/>
              </p:ext>
            </p:extLst>
          </p:nvPr>
        </p:nvGraphicFramePr>
        <p:xfrm>
          <a:off x="2462666" y="519814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48266" y="520489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514501" y="5552038"/>
            <a:ext cx="618439" cy="614065"/>
            <a:chOff x="277985" y="3505200"/>
            <a:chExt cx="618439" cy="614065"/>
          </a:xfrm>
        </p:grpSpPr>
        <p:sp>
          <p:nvSpPr>
            <p:cNvPr id="18" name="TextBox 17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4793765" y="5605571"/>
            <a:ext cx="784510" cy="614065"/>
            <a:chOff x="194950" y="3505200"/>
            <a:chExt cx="784510" cy="614065"/>
          </a:xfrm>
        </p:grpSpPr>
        <p:sp>
          <p:nvSpPr>
            <p:cNvPr id="21" name="TextBox 20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727426" y="2416263"/>
            <a:ext cx="618439" cy="614065"/>
            <a:chOff x="277985" y="3505200"/>
            <a:chExt cx="618439" cy="614065"/>
          </a:xfrm>
        </p:grpSpPr>
        <p:sp>
          <p:nvSpPr>
            <p:cNvPr id="24" name="TextBox 23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731090" y="2469796"/>
            <a:ext cx="784510" cy="614065"/>
            <a:chOff x="194950" y="3505200"/>
            <a:chExt cx="784510" cy="614065"/>
          </a:xfrm>
        </p:grpSpPr>
        <p:sp>
          <p:nvSpPr>
            <p:cNvPr id="27" name="TextBox 26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1752601" y="361726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203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16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0208" y="923400"/>
            <a:ext cx="7667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(0+3)/2 </a:t>
            </a:r>
            <a:r>
              <a:rPr lang="en-IN" b="1" dirty="0">
                <a:solidFill>
                  <a:srgbClr val="C00000"/>
                </a:solidFill>
              </a:rPr>
              <a:t>= 1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a[1]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greater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  <a:r>
              <a:rPr lang="en-IN" dirty="0"/>
              <a:t>, so </a:t>
            </a:r>
            <a:r>
              <a:rPr lang="en-IN" b="1" dirty="0"/>
              <a:t>left </a:t>
            </a:r>
            <a:r>
              <a:rPr lang="en-IN" dirty="0"/>
              <a:t>= middle + 1 =1 + 1 = </a:t>
            </a:r>
            <a:r>
              <a:rPr lang="en-IN" b="1" dirty="0">
                <a:solidFill>
                  <a:srgbClr val="C00000"/>
                </a:solidFill>
              </a:rPr>
              <a:t>2, right = 3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5278"/>
              </p:ext>
            </p:extLst>
          </p:nvPr>
        </p:nvGraphicFramePr>
        <p:xfrm>
          <a:off x="2462665" y="19335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18805"/>
              </p:ext>
            </p:extLst>
          </p:nvPr>
        </p:nvGraphicFramePr>
        <p:xfrm>
          <a:off x="2462666" y="24370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48266" y="24437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105962" y="2832866"/>
            <a:ext cx="618439" cy="614065"/>
            <a:chOff x="277985" y="3505200"/>
            <a:chExt cx="618439" cy="614065"/>
          </a:xfrm>
        </p:grpSpPr>
        <p:sp>
          <p:nvSpPr>
            <p:cNvPr id="10" name="TextBox 9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793765" y="2844441"/>
            <a:ext cx="784510" cy="614065"/>
            <a:chOff x="194950" y="3505200"/>
            <a:chExt cx="784510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752601" y="87928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2: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52600" y="359933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1493" y="3666600"/>
            <a:ext cx="5544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(2+3)/2 </a:t>
            </a:r>
            <a:r>
              <a:rPr lang="en-IN" b="1" dirty="0">
                <a:solidFill>
                  <a:srgbClr val="C00000"/>
                </a:solidFill>
              </a:rPr>
              <a:t>= 2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a[2]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equals to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  <a:r>
              <a:rPr lang="en-IN" dirty="0"/>
              <a:t>, so </a:t>
            </a:r>
            <a:r>
              <a:rPr lang="en-IN" b="1" dirty="0"/>
              <a:t>element found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07251"/>
              </p:ext>
            </p:extLst>
          </p:nvPr>
        </p:nvGraphicFramePr>
        <p:xfrm>
          <a:off x="2462665" y="46767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563914"/>
              </p:ext>
            </p:extLst>
          </p:nvPr>
        </p:nvGraphicFramePr>
        <p:xfrm>
          <a:off x="2462666" y="51802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548266" y="51869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419581" y="5534108"/>
            <a:ext cx="2008883" cy="614065"/>
            <a:chOff x="-417235" y="3505200"/>
            <a:chExt cx="2008883" cy="614065"/>
          </a:xfrm>
        </p:grpSpPr>
        <p:sp>
          <p:nvSpPr>
            <p:cNvPr id="22" name="TextBox 21"/>
            <p:cNvSpPr txBox="1"/>
            <p:nvPr/>
          </p:nvSpPr>
          <p:spPr>
            <a:xfrm>
              <a:off x="-417235" y="3657600"/>
              <a:ext cx="2008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Element Found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752601" y="359933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3: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256676" y="467770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5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20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Algorithm (Recursive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6826"/>
            <a:ext cx="9575358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Sorted Array A, integer key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A, 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(A, left, right, key)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left = 0, right = n-1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if left &lt;= right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middle = index halfway between left, right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if A[middle] matches key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middle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 if key less than A[middle]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</a:t>
            </a:r>
            <a:r>
              <a:rPr lang="en-US" sz="2400" b="1" dirty="0" err="1"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 (A, left, 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middle - 1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key)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</a:t>
            </a:r>
            <a:r>
              <a:rPr lang="en-US" sz="2400" b="1" dirty="0" err="1"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 (A, 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middle + 1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right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key)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343659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vs. Binary Search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640630"/>
              </p:ext>
            </p:extLst>
          </p:nvPr>
        </p:nvGraphicFramePr>
        <p:xfrm>
          <a:off x="346229" y="1054528"/>
          <a:ext cx="11714008" cy="132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501">
                <a:tc>
                  <a:txBody>
                    <a:bodyPr/>
                    <a:lstStyle/>
                    <a:p>
                      <a:r>
                        <a:rPr lang="en-US" sz="2100" b="1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Linear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Binary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Prerequisites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work on both sorted and unsorted arrays.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requires the input array to be sorted only.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25E7D-0937-C40C-DB59-2D166FE3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46067"/>
              </p:ext>
            </p:extLst>
          </p:nvPr>
        </p:nvGraphicFramePr>
        <p:xfrm>
          <a:off x="346229" y="2380408"/>
          <a:ext cx="1171400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451">
                  <a:extLst>
                    <a:ext uri="{9D8B030D-6E8A-4147-A177-3AD203B41FA5}">
                      <a16:colId xmlns:a16="http://schemas.microsoft.com/office/drawing/2014/main" val="926165346"/>
                    </a:ext>
                  </a:extLst>
                </a:gridCol>
                <a:gridCol w="4895094">
                  <a:extLst>
                    <a:ext uri="{9D8B030D-6E8A-4147-A177-3AD203B41FA5}">
                      <a16:colId xmlns:a16="http://schemas.microsoft.com/office/drawing/2014/main" val="2041637328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538944757"/>
                    </a:ext>
                  </a:extLst>
                </a:gridCol>
              </a:tblGrid>
              <a:tr h="346223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Efficiency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Less efficient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comparatively.</a:t>
                      </a:r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More efficient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than linear search, especially for large datasets.</a:t>
                      </a:r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9211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F3877F-7551-DCAF-191F-93B6FD05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29096"/>
              </p:ext>
            </p:extLst>
          </p:nvPr>
        </p:nvGraphicFramePr>
        <p:xfrm>
          <a:off x="346229" y="3025141"/>
          <a:ext cx="1171400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7256">
                  <a:extLst>
                    <a:ext uri="{9D8B030D-6E8A-4147-A177-3AD203B41FA5}">
                      <a16:colId xmlns:a16="http://schemas.microsoft.com/office/drawing/2014/main" val="2657036283"/>
                    </a:ext>
                  </a:extLst>
                </a:gridCol>
                <a:gridCol w="4893289">
                  <a:extLst>
                    <a:ext uri="{9D8B030D-6E8A-4147-A177-3AD203B41FA5}">
                      <a16:colId xmlns:a16="http://schemas.microsoft.com/office/drawing/2014/main" val="857961393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2969725467"/>
                    </a:ext>
                  </a:extLst>
                </a:gridCol>
              </a:tblGrid>
              <a:tr h="60032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 Complexity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O(n)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06680" marB="1066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O(log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n)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52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340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2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sort is a simple sorting algorithm.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list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divided into two parts</a:t>
            </a:r>
            <a:r>
              <a:rPr lang="en-US" dirty="0"/>
              <a:t>, </a:t>
            </a:r>
          </a:p>
          <a:p>
            <a:pPr lvl="1">
              <a:buClrTx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left end </a:t>
            </a:r>
            <a:r>
              <a:rPr lang="en-US" dirty="0"/>
              <a:t>and </a:t>
            </a:r>
          </a:p>
          <a:p>
            <a:pPr lvl="1">
              <a:buClrTx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unsorted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right end</a:t>
            </a:r>
            <a:r>
              <a:rPr lang="en-US" dirty="0"/>
              <a:t>. </a:t>
            </a:r>
          </a:p>
          <a:p>
            <a:r>
              <a:rPr lang="en-US" dirty="0"/>
              <a:t>Initially, the sorted part is empty and the unsorted part is the entire list.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smallest element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selected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the </a:t>
            </a:r>
            <a:r>
              <a:rPr lang="en-US" b="1" dirty="0">
                <a:solidFill>
                  <a:srgbClr val="C00000"/>
                </a:solidFill>
              </a:rPr>
              <a:t>unsorted array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swapped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the </a:t>
            </a:r>
            <a:r>
              <a:rPr lang="en-US" b="1" dirty="0">
                <a:solidFill>
                  <a:srgbClr val="C00000"/>
                </a:solidFill>
              </a:rPr>
              <a:t>leftmost element</a:t>
            </a:r>
            <a:r>
              <a:rPr lang="en-US" dirty="0"/>
              <a:t>, and that element becomes a part of the sorted array. </a:t>
            </a:r>
          </a:p>
          <a:p>
            <a:r>
              <a:rPr lang="en-US" dirty="0"/>
              <a:t>This process continues moving unsorted array boundary by one element to the right.</a:t>
            </a:r>
          </a:p>
        </p:txBody>
      </p:sp>
    </p:spTree>
    <p:extLst>
      <p:ext uri="{BB962C8B-B14F-4D97-AF65-F5344CB8AC3E}">
        <p14:creationId xmlns:p14="http://schemas.microsoft.com/office/powerpoint/2010/main" val="334709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works well with small data sets.</a:t>
            </a:r>
          </a:p>
          <a:p>
            <a:r>
              <a:rPr lang="en-US" dirty="0"/>
              <a:t>This algorithm is </a:t>
            </a:r>
            <a:r>
              <a:rPr lang="en-US" b="1" dirty="0">
                <a:solidFill>
                  <a:srgbClr val="C00000"/>
                </a:solidFill>
              </a:rPr>
              <a:t>not suitable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large data sets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its average/best/worst case complexities are of </a:t>
            </a:r>
            <a:r>
              <a:rPr lang="en-US" b="1" dirty="0">
                <a:solidFill>
                  <a:srgbClr val="C00000"/>
                </a:solidFill>
              </a:rPr>
              <a:t>Ο(n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where n is the number of items.</a:t>
            </a:r>
          </a:p>
          <a:p>
            <a:r>
              <a:rPr lang="en-US" dirty="0"/>
              <a:t>This algorithm is </a:t>
            </a:r>
            <a:r>
              <a:rPr lang="en-US" b="1" dirty="0">
                <a:solidFill>
                  <a:srgbClr val="C00000"/>
                </a:solidFill>
              </a:rPr>
              <a:t>not stable algorithm</a:t>
            </a:r>
            <a:r>
              <a:rPr lang="en-US" dirty="0"/>
              <a:t>, as it doesn’t preserve the relative order of items with equal keys.</a:t>
            </a:r>
          </a:p>
          <a:p>
            <a:r>
              <a:rPr lang="en-US" dirty="0"/>
              <a:t>It is an </a:t>
            </a:r>
            <a:r>
              <a:rPr lang="en-US" b="1" dirty="0">
                <a:solidFill>
                  <a:srgbClr val="C00000"/>
                </a:solidFill>
              </a:rPr>
              <a:t>in-place algorithm</a:t>
            </a:r>
            <a:r>
              <a:rPr lang="en-US" dirty="0"/>
              <a:t>, as it doesn’t require any extra space.</a:t>
            </a:r>
          </a:p>
        </p:txBody>
      </p:sp>
    </p:spTree>
    <p:extLst>
      <p:ext uri="{BB962C8B-B14F-4D97-AF65-F5344CB8AC3E}">
        <p14:creationId xmlns:p14="http://schemas.microsoft.com/office/powerpoint/2010/main" val="20355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47528" y="1272972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81130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2030507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05000" y="20305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23528" y="2777267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49124" y="231560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23528" y="3310667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1905000" y="3947175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5000" y="39471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543800" y="4366275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0, value 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36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7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47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81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15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4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3600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7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13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7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81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15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74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428" y="4917177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Index = 3, value = -5</a:t>
            </a:r>
          </a:p>
        </p:txBody>
      </p:sp>
      <p:sp>
        <p:nvSpPr>
          <p:cNvPr id="36" name="Freeform 35"/>
          <p:cNvSpPr/>
          <p:nvPr/>
        </p:nvSpPr>
        <p:spPr>
          <a:xfrm>
            <a:off x="2133601" y="4697508"/>
            <a:ext cx="4262077" cy="122945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661238" y="4316507"/>
            <a:ext cx="37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0 to 7)</a:t>
            </a:r>
          </a:p>
        </p:txBody>
      </p:sp>
      <p:sp>
        <p:nvSpPr>
          <p:cNvPr id="39" name="Freeform 38"/>
          <p:cNvSpPr/>
          <p:nvPr/>
        </p:nvSpPr>
        <p:spPr>
          <a:xfrm>
            <a:off x="2390274" y="5611907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2757029" y="584050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600" y="487231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0813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/>
      <p:bldP spid="12" grpId="0" animBg="1"/>
      <p:bldP spid="16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/>
      <p:bldP spid="36" grpId="0" animBg="1"/>
      <p:bldP spid="37" grpId="0"/>
      <p:bldP spid="39" grpId="0" animBg="1"/>
      <p:bldP spid="40" grpId="0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8511" y="88949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752600" y="161638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69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3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37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71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05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39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269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03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7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71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05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39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1" name="Freeform 20"/>
          <p:cNvSpPr/>
          <p:nvPr/>
        </p:nvSpPr>
        <p:spPr>
          <a:xfrm>
            <a:off x="2286001" y="1430261"/>
            <a:ext cx="3741337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711112" y="1077337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1 to 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889490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1, value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028" y="1440392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1, value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2022" y="2696599"/>
            <a:ext cx="490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161638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752600" y="3229999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52600" y="322999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1752600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269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03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37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71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05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939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2600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269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03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937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271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05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939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5" name="Freeform 44"/>
          <p:cNvSpPr/>
          <p:nvPr/>
        </p:nvSpPr>
        <p:spPr>
          <a:xfrm>
            <a:off x="2819401" y="4197073"/>
            <a:ext cx="3207937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743200" y="3511273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2 to 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2225" y="3953899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2, value =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5853" y="4504801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5, value = 2</a:t>
            </a:r>
          </a:p>
        </p:txBody>
      </p:sp>
      <p:sp>
        <p:nvSpPr>
          <p:cNvPr id="49" name="Freeform 48"/>
          <p:cNvSpPr/>
          <p:nvPr/>
        </p:nvSpPr>
        <p:spPr>
          <a:xfrm>
            <a:off x="3075589" y="5211199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442344" y="543979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26936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27136" y="4390568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349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 animBg="1"/>
      <p:bldP spid="50" grpId="0"/>
      <p:bldP spid="52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79786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752600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6936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3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1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05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39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69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3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937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71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05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39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2" name="Freeform 21"/>
          <p:cNvSpPr/>
          <p:nvPr/>
        </p:nvSpPr>
        <p:spPr>
          <a:xfrm>
            <a:off x="3360337" y="1764934"/>
            <a:ext cx="26670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522225" y="1521760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3, value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5853" y="2072662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3, value =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2600" y="378132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1752600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69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03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37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71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05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39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2600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269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37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71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605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939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7" name="Freeform 46"/>
          <p:cNvSpPr/>
          <p:nvPr/>
        </p:nvSpPr>
        <p:spPr>
          <a:xfrm>
            <a:off x="3907595" y="4748402"/>
            <a:ext cx="2119742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7522225" y="4505228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4, value =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5853" y="5056130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5, value = 12</a:t>
            </a:r>
          </a:p>
        </p:txBody>
      </p:sp>
      <p:sp>
        <p:nvSpPr>
          <p:cNvPr id="51" name="Freeform 50"/>
          <p:cNvSpPr/>
          <p:nvPr/>
        </p:nvSpPr>
        <p:spPr>
          <a:xfrm>
            <a:off x="4158726" y="5674117"/>
            <a:ext cx="533400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74519" y="590271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1074" y="1079134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3 to 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10200" y="3139534"/>
            <a:ext cx="490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1752600" y="376966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360336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1650" y="4076277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5 to 7)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937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7136" y="4941897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8560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/>
      <p:bldP spid="25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7" grpId="0" animBg="1"/>
      <p:bldP spid="49" grpId="0"/>
      <p:bldP spid="50" grpId="0"/>
      <p:bldP spid="51" grpId="0" animBg="1"/>
      <p:bldP spid="52" grpId="0"/>
      <p:bldP spid="53" grpId="0"/>
      <p:bldP spid="54" grpId="0"/>
      <p:bldP spid="56" grpId="0" animBg="1"/>
      <p:bldP spid="57" grpId="0"/>
      <p:bldP spid="58" grpId="0" animBg="1"/>
      <p:bldP spid="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8113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752600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69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3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1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05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39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69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3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937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71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05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39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2" name="Freeform 21"/>
          <p:cNvSpPr/>
          <p:nvPr/>
        </p:nvSpPr>
        <p:spPr>
          <a:xfrm>
            <a:off x="4427137" y="1778381"/>
            <a:ext cx="16002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522225" y="1535207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5, value =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5853" y="2086109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6, value = 12</a:t>
            </a:r>
          </a:p>
        </p:txBody>
      </p:sp>
      <p:sp>
        <p:nvSpPr>
          <p:cNvPr id="25" name="Freeform 24"/>
          <p:cNvSpPr/>
          <p:nvPr/>
        </p:nvSpPr>
        <p:spPr>
          <a:xfrm>
            <a:off x="4696447" y="2727959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28074" y="295655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271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0536" y="1971876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7855" y="1056202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5 to 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2600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69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03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37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71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0536" y="47912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3936" y="47912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2600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269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37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71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605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939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7" name="Freeform 46"/>
          <p:cNvSpPr/>
          <p:nvPr/>
        </p:nvSpPr>
        <p:spPr>
          <a:xfrm>
            <a:off x="4960537" y="4597781"/>
            <a:ext cx="10668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522225" y="4354607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6, value =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5853" y="4905509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7, value = 14</a:t>
            </a:r>
          </a:p>
        </p:txBody>
      </p:sp>
      <p:sp>
        <p:nvSpPr>
          <p:cNvPr id="50" name="Freeform 49"/>
          <p:cNvSpPr/>
          <p:nvPr/>
        </p:nvSpPr>
        <p:spPr>
          <a:xfrm>
            <a:off x="5222453" y="5547359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029200" y="577595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605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93936" y="4791276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1061" y="3922467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6 to 7)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2600" y="37947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56" name="Straight Connector 55"/>
          <p:cNvCxnSpPr/>
          <p:nvPr/>
        </p:nvCxnSpPr>
        <p:spPr>
          <a:xfrm>
            <a:off x="1752600" y="3783107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18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/>
      <p:bldP spid="49" grpId="0"/>
      <p:bldP spid="50" grpId="0" animBg="1"/>
      <p:bldP spid="51" grpId="0"/>
      <p:bldP spid="52" grpId="0" animBg="1"/>
      <p:bldP spid="53" grpId="0" animBg="1"/>
      <p:bldP spid="54" grpId="0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SELECTION_SORT(K,N)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</a:t>
            </a:r>
            <a:r>
              <a:rPr lang="en-US" b="1" dirty="0"/>
              <a:t>vector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/>
              <a:t> elements</a:t>
            </a:r>
          </a:p>
          <a:p>
            <a:r>
              <a:rPr lang="en-US" dirty="0"/>
              <a:t>This procedure </a:t>
            </a:r>
            <a:r>
              <a:rPr lang="en-US" b="1" dirty="0">
                <a:solidFill>
                  <a:srgbClr val="C00000"/>
                </a:solidFill>
              </a:rPr>
              <a:t>rearrange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vector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ascending order</a:t>
            </a:r>
            <a:r>
              <a:rPr lang="en-US" dirty="0"/>
              <a:t> using </a:t>
            </a:r>
            <a:r>
              <a:rPr lang="en-US" b="1" dirty="0">
                <a:solidFill>
                  <a:srgbClr val="C00000"/>
                </a:solidFill>
              </a:rPr>
              <a:t>Selection Sort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denotes the </a:t>
            </a:r>
            <a:r>
              <a:rPr lang="en-US" b="1" dirty="0">
                <a:solidFill>
                  <a:srgbClr val="C00000"/>
                </a:solidFill>
              </a:rPr>
              <a:t>pass index</a:t>
            </a:r>
            <a:r>
              <a:rPr lang="en-US" dirty="0"/>
              <a:t> and position of the first element in the vector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MIN_INDEX</a:t>
            </a:r>
            <a:r>
              <a:rPr lang="en-US" dirty="0"/>
              <a:t> denotes the </a:t>
            </a:r>
            <a:r>
              <a:rPr lang="en-US" b="1" dirty="0"/>
              <a:t>position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smallest element </a:t>
            </a:r>
            <a:r>
              <a:rPr lang="en-US" dirty="0"/>
              <a:t>encountered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j</a:t>
            </a:r>
            <a:r>
              <a:rPr lang="en-US" dirty="0"/>
              <a:t> is used to index elements</a:t>
            </a:r>
          </a:p>
        </p:txBody>
      </p:sp>
    </p:spTree>
    <p:extLst>
      <p:ext uri="{BB962C8B-B14F-4D97-AF65-F5344CB8AC3E}">
        <p14:creationId xmlns:p14="http://schemas.microsoft.com/office/powerpoint/2010/main" val="337632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SELECTION_SORT(K,N)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153" y="829359"/>
            <a:ext cx="11766176" cy="4893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[Loop on the Pass index]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Repeat thru step 4 for i = 0,1,…….., N-2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minimum index]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MIN_INDEX 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i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[Make a pass and obtain element with smallest value]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Repeat for j = i + 1, i + 2, …………….., N-1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	If 	K[j] &lt; K[MIN_INDEX]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	Then	MIN_INDEX 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j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[Exchange elements]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IF	  MIN_INDEX &lt;&gt; i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(not equals to)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Then  K[i]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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K[MIN_INDEX]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(swap elements)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[Finished]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Return</a:t>
            </a:r>
          </a:p>
        </p:txBody>
      </p:sp>
    </p:spTree>
    <p:extLst>
      <p:ext uri="{BB962C8B-B14F-4D97-AF65-F5344CB8AC3E}">
        <p14:creationId xmlns:p14="http://schemas.microsoft.com/office/powerpoint/2010/main" val="237613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24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67687" cy="5590565"/>
          </a:xfrm>
        </p:spPr>
        <p:txBody>
          <a:bodyPr>
            <a:normAutofit/>
          </a:bodyPr>
          <a:lstStyle/>
          <a:p>
            <a:r>
              <a:rPr lang="en-US" dirty="0"/>
              <a:t>Unlike </a:t>
            </a:r>
            <a:r>
              <a:rPr lang="en-US" b="1" dirty="0">
                <a:solidFill>
                  <a:srgbClr val="C00000"/>
                </a:solidFill>
              </a:rPr>
              <a:t>selection sort</a:t>
            </a:r>
            <a:r>
              <a:rPr lang="en-US" dirty="0"/>
              <a:t>, instead of finding the smallest record and performing the interchange, </a:t>
            </a:r>
            <a:r>
              <a:rPr lang="en-US" b="1" dirty="0"/>
              <a:t>two records are </a:t>
            </a:r>
            <a:r>
              <a:rPr lang="en-US" b="1" dirty="0">
                <a:solidFill>
                  <a:srgbClr val="C00000"/>
                </a:solidFill>
              </a:rPr>
              <a:t>interchanged immediately</a:t>
            </a:r>
            <a:r>
              <a:rPr lang="en-US" dirty="0"/>
              <a:t> upon discovering that </a:t>
            </a:r>
            <a:r>
              <a:rPr lang="en-US" b="1" dirty="0"/>
              <a:t>they are out of order</a:t>
            </a:r>
            <a:r>
              <a:rPr lang="en-US" dirty="0"/>
              <a:t>.</a:t>
            </a:r>
          </a:p>
          <a:p>
            <a:r>
              <a:rPr lang="en-US" dirty="0"/>
              <a:t>During the </a:t>
            </a:r>
            <a:r>
              <a:rPr lang="en-US" b="1" dirty="0">
                <a:solidFill>
                  <a:srgbClr val="C00000"/>
                </a:solidFill>
              </a:rPr>
              <a:t>first pass R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 and 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are compared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interchanged in case of our of order</a:t>
            </a:r>
            <a:r>
              <a:rPr lang="en-US" dirty="0"/>
              <a:t>, this process is repeated for records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dirty="0"/>
              <a:t>, and so on.</a:t>
            </a:r>
          </a:p>
          <a:p>
            <a:r>
              <a:rPr lang="en-US" dirty="0"/>
              <a:t>This method will cause records with </a:t>
            </a:r>
            <a:r>
              <a:rPr lang="en-US" b="1" dirty="0">
                <a:solidFill>
                  <a:srgbClr val="C00000"/>
                </a:solidFill>
              </a:rPr>
              <a:t>small key to move “bubble up”</a:t>
            </a:r>
            <a:r>
              <a:rPr lang="en-US" b="1" dirty="0"/>
              <a:t>.</a:t>
            </a:r>
          </a:p>
          <a:p>
            <a:r>
              <a:rPr lang="en-US" b="1" dirty="0"/>
              <a:t>After</a:t>
            </a:r>
            <a:r>
              <a:rPr lang="en-US" dirty="0"/>
              <a:t> the </a:t>
            </a:r>
            <a:r>
              <a:rPr lang="en-US" b="1" dirty="0"/>
              <a:t>first pass</a:t>
            </a:r>
            <a:r>
              <a:rPr lang="en-US" dirty="0"/>
              <a:t>, the record with </a:t>
            </a:r>
            <a:r>
              <a:rPr lang="en-US" b="1" dirty="0">
                <a:solidFill>
                  <a:srgbClr val="C00000"/>
                </a:solidFill>
              </a:rPr>
              <a:t>largest key</a:t>
            </a:r>
            <a:r>
              <a:rPr lang="en-US" dirty="0"/>
              <a:t> will be in the n-1</a:t>
            </a:r>
            <a:r>
              <a:rPr lang="en-US" b="1" baseline="30000" dirty="0"/>
              <a:t>th</a:t>
            </a:r>
            <a:r>
              <a:rPr lang="en-US" dirty="0"/>
              <a:t> position. On each successive pass, the records with the next largest key will be placed in position n-2, n-3 ….., 2,1 respectively.</a:t>
            </a:r>
          </a:p>
          <a:p>
            <a:r>
              <a:rPr lang="en-US" dirty="0"/>
              <a:t>This approach requires at most n–1 passes.</a:t>
            </a:r>
          </a:p>
        </p:txBody>
      </p:sp>
    </p:spTree>
    <p:extLst>
      <p:ext uri="{BB962C8B-B14F-4D97-AF65-F5344CB8AC3E}">
        <p14:creationId xmlns:p14="http://schemas.microsoft.com/office/powerpoint/2010/main" val="395901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67687" cy="5590565"/>
          </a:xfrm>
        </p:spPr>
        <p:txBody>
          <a:bodyPr>
            <a:normAutofit/>
          </a:bodyPr>
          <a:lstStyle/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stable sorting </a:t>
            </a:r>
            <a:r>
              <a:rPr lang="en-US" dirty="0"/>
              <a:t>algorithm, as the elements with the same keys maintain their relative order in the sorted output as well.</a:t>
            </a:r>
          </a:p>
          <a:p>
            <a:r>
              <a:rPr lang="en-US" dirty="0"/>
              <a:t>This is</a:t>
            </a:r>
            <a:r>
              <a:rPr lang="en-US" b="1" dirty="0">
                <a:solidFill>
                  <a:srgbClr val="C00000"/>
                </a:solidFill>
              </a:rPr>
              <a:t> in-place </a:t>
            </a:r>
            <a:r>
              <a:rPr lang="en-US" dirty="0"/>
              <a:t>algorithm as it doesn’t require ant extra space to sort the elements.</a:t>
            </a:r>
          </a:p>
          <a:p>
            <a:r>
              <a:rPr lang="en-US" dirty="0"/>
              <a:t>This seems </a:t>
            </a:r>
            <a:r>
              <a:rPr lang="en-US" b="1" dirty="0">
                <a:solidFill>
                  <a:srgbClr val="C00000"/>
                </a:solidFill>
              </a:rPr>
              <a:t>slow for large data sets </a:t>
            </a:r>
            <a:r>
              <a:rPr lang="en-US" dirty="0"/>
              <a:t>as the </a:t>
            </a:r>
            <a:r>
              <a:rPr lang="en-US" b="1" dirty="0">
                <a:solidFill>
                  <a:srgbClr val="C00000"/>
                </a:solidFill>
              </a:rPr>
              <a:t>worst case </a:t>
            </a:r>
            <a:r>
              <a:rPr lang="en-US" dirty="0"/>
              <a:t>time </a:t>
            </a:r>
            <a:r>
              <a:rPr lang="en-US" b="1" dirty="0">
                <a:solidFill>
                  <a:srgbClr val="C00000"/>
                </a:solidFill>
              </a:rPr>
              <a:t>complexity </a:t>
            </a:r>
            <a:r>
              <a:rPr lang="en-US" dirty="0"/>
              <a:t>of bubble sort is </a:t>
            </a:r>
            <a:r>
              <a:rPr lang="en-US" b="1" dirty="0">
                <a:solidFill>
                  <a:srgbClr val="C00000"/>
                </a:solidFill>
              </a:rPr>
              <a:t>O(n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.</a:t>
            </a:r>
          </a:p>
          <a:p>
            <a:r>
              <a:rPr lang="en-US" dirty="0"/>
              <a:t>For the input list which is already sorted (best case), the algorithm can get early exist.</a:t>
            </a:r>
          </a:p>
          <a:p>
            <a:r>
              <a:rPr lang="en-US" dirty="0"/>
              <a:t>So the </a:t>
            </a:r>
            <a:r>
              <a:rPr lang="en-US" b="1" dirty="0">
                <a:solidFill>
                  <a:srgbClr val="C00000"/>
                </a:solidFill>
              </a:rPr>
              <a:t>best case </a:t>
            </a:r>
            <a:r>
              <a:rPr lang="en-US" dirty="0"/>
              <a:t>time complexity is </a:t>
            </a:r>
            <a:r>
              <a:rPr lang="en-US" b="1" dirty="0">
                <a:solidFill>
                  <a:srgbClr val="C00000"/>
                </a:solidFill>
              </a:rPr>
              <a:t>O(n).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1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38600" y="133126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797861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90268" y="1999132"/>
            <a:ext cx="1199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268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318867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867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867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867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867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7470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7470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97470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97470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7470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66585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66585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6585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66585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6585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0773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0773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0773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50773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0773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" name="Freeform 2"/>
          <p:cNvSpPr/>
          <p:nvPr/>
        </p:nvSpPr>
        <p:spPr>
          <a:xfrm>
            <a:off x="842032" y="270627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18867" y="2550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867" y="2931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377" y="265583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3" name="Freeform 32"/>
          <p:cNvSpPr/>
          <p:nvPr/>
        </p:nvSpPr>
        <p:spPr>
          <a:xfrm>
            <a:off x="2899986" y="346272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064899" y="340045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6585" y="3312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66585" y="3693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3" name="Freeform 42"/>
          <p:cNvSpPr/>
          <p:nvPr/>
        </p:nvSpPr>
        <p:spPr>
          <a:xfrm>
            <a:off x="4095749" y="384927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4245507" y="378319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0773" y="3693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50773" y="4074460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1412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2 :</a:t>
            </a:r>
            <a:endParaRPr lang="en-US" b="1" dirty="0"/>
          </a:p>
        </p:txBody>
      </p:sp>
      <p:sp>
        <p:nvSpPr>
          <p:cNvPr id="41" name="Rectangle 40"/>
          <p:cNvSpPr/>
          <p:nvPr/>
        </p:nvSpPr>
        <p:spPr>
          <a:xfrm>
            <a:off x="4793340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93340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93340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3340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93340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90268" y="4707162"/>
            <a:ext cx="1199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771044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1044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1044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71044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71044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15216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15216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5216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15216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15216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9672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09672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09672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9672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9672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66" name="Freeform 65"/>
          <p:cNvSpPr/>
          <p:nvPr/>
        </p:nvSpPr>
        <p:spPr>
          <a:xfrm>
            <a:off x="6316775" y="309470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481688" y="303243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71044" y="2913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71044" y="3294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0" name="Freeform 69"/>
          <p:cNvSpPr/>
          <p:nvPr/>
        </p:nvSpPr>
        <p:spPr>
          <a:xfrm>
            <a:off x="7466808" y="3465583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631721" y="3403315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15216" y="3294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5216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3665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3 :</a:t>
            </a:r>
            <a:endParaRPr lang="en-US" b="1" dirty="0"/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8021867" y="2013199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522588" y="2529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22588" y="2910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22588" y="3291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22588" y="3672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22588" y="4053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062834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062834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62834" y="3294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062834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62834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86" name="Freeform 85"/>
          <p:cNvSpPr/>
          <p:nvPr/>
        </p:nvSpPr>
        <p:spPr>
          <a:xfrm>
            <a:off x="8853983" y="2697749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9018896" y="263548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09672" y="2532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09672" y="2913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0" name="Freeform 89"/>
          <p:cNvSpPr/>
          <p:nvPr/>
        </p:nvSpPr>
        <p:spPr>
          <a:xfrm>
            <a:off x="10065675" y="3030265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10230588" y="2967997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22588" y="2910601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22588" y="3291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89198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4 :</a:t>
            </a:r>
            <a:endParaRPr lang="en-US" b="1" dirty="0"/>
          </a:p>
        </p:txBody>
      </p:sp>
      <p:cxnSp>
        <p:nvCxnSpPr>
          <p:cNvPr id="95" name="Straight Connector 94"/>
          <p:cNvCxnSpPr/>
          <p:nvPr/>
        </p:nvCxnSpPr>
        <p:spPr>
          <a:xfrm flipV="1">
            <a:off x="10689198" y="1999132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1596235" y="2690260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1809370" y="262511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062834" y="2532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062834" y="2913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cxnSp>
        <p:nvCxnSpPr>
          <p:cNvPr id="100" name="Straight Connector 99"/>
          <p:cNvCxnSpPr/>
          <p:nvPr/>
        </p:nvCxnSpPr>
        <p:spPr>
          <a:xfrm flipV="1">
            <a:off x="4671412" y="1999132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1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3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83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5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4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4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2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6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67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7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" grpId="0" animBg="1"/>
      <p:bldP spid="29" grpId="0" animBg="1"/>
      <p:bldP spid="30" grpId="0" animBg="1"/>
      <p:bldP spid="33" grpId="0" animBg="1"/>
      <p:bldP spid="36" grpId="0" animBg="1"/>
      <p:bldP spid="37" grpId="0" animBg="1"/>
      <p:bldP spid="43" grpId="0" animBg="1"/>
      <p:bldP spid="45" grpId="0" animBg="1"/>
      <p:bldP spid="46" grpId="0" animBg="1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8" grpId="0" animBg="1"/>
      <p:bldP spid="89" grpId="0" animBg="1"/>
      <p:bldP spid="90" grpId="0" animBg="1"/>
      <p:bldP spid="92" grpId="0" animBg="1"/>
      <p:bldP spid="93" grpId="0" animBg="1"/>
      <p:bldP spid="94" grpId="0" animBg="1"/>
      <p:bldP spid="96" grpId="0" animBg="1"/>
      <p:bldP spid="98" grpId="0" animBg="1"/>
      <p:bldP spid="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BUBBLE_SORT(K,N)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</a:t>
            </a:r>
            <a:r>
              <a:rPr lang="en-US" b="1" dirty="0"/>
              <a:t>vector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/>
              <a:t> elements.</a:t>
            </a:r>
          </a:p>
          <a:p>
            <a:r>
              <a:rPr lang="en-US" dirty="0"/>
              <a:t>This procedure </a:t>
            </a:r>
            <a:r>
              <a:rPr lang="en-US" b="1" dirty="0">
                <a:solidFill>
                  <a:srgbClr val="C00000"/>
                </a:solidFill>
              </a:rPr>
              <a:t>rearrange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vector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ascending order</a:t>
            </a:r>
            <a:r>
              <a:rPr lang="en-US" dirty="0"/>
              <a:t> using </a:t>
            </a:r>
            <a:r>
              <a:rPr lang="en-US" b="1" dirty="0">
                <a:solidFill>
                  <a:srgbClr val="C00000"/>
                </a:solidFill>
              </a:rPr>
              <a:t>Bubble Sort</a:t>
            </a:r>
            <a:r>
              <a:rPr lang="en-US" b="1" dirty="0"/>
              <a:t>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i &amp; LAST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denotes the </a:t>
            </a:r>
            <a:r>
              <a:rPr lang="en-US" b="1" dirty="0">
                <a:solidFill>
                  <a:srgbClr val="C00000"/>
                </a:solidFill>
              </a:rPr>
              <a:t>pass index</a:t>
            </a:r>
            <a:r>
              <a:rPr lang="en-US" dirty="0"/>
              <a:t> and position of the first element in the vector.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j</a:t>
            </a:r>
            <a:r>
              <a:rPr lang="en-US" dirty="0"/>
              <a:t> is used to index elements.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EXCHS </a:t>
            </a:r>
            <a:r>
              <a:rPr lang="en-US" dirty="0"/>
              <a:t>is used to count number of exchanges made on any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4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Procedure: BUBBLE_SORT (K,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10" y="830390"/>
            <a:ext cx="9213334" cy="5324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LAST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N-1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[Loop on pass index]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Repeat thru step 5 for i = 0, 1, 2, ….  , N-2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[Initialize exchange counter for this pass]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EXCHS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0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[Perform pairwise comparisons on unsorted elements]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Repeat for j = 0, 1, 2, ……….., LAST – 1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IF 	K[j] &gt; K [j+1]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Then 	K[j]  K[j+1]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		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EXCHS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EXCHS + 1</a:t>
            </a:r>
            <a:endParaRPr lang="en-IN" sz="2000" dirty="0">
              <a:latin typeface="Consolas" pitchFamily="49" charset="0"/>
              <a:cs typeface="Consolas" pitchFamily="49" charset="0"/>
              <a:sym typeface="Wingdings" panose="05000000000000000000" pitchFamily="2" charset="2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[Any exchange made in this pass?]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IF	  EXCHS = 0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Then  Return (Vector is sorted, early return)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ELSE  LAST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LAST - 1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	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[Finished]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Return</a:t>
            </a:r>
          </a:p>
        </p:txBody>
      </p:sp>
    </p:spTree>
    <p:extLst>
      <p:ext uri="{BB962C8B-B14F-4D97-AF65-F5344CB8AC3E}">
        <p14:creationId xmlns:p14="http://schemas.microsoft.com/office/powerpoint/2010/main" val="338906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49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8CE1-40A6-AFDE-378B-B57C7C2E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 insertion sort, </a:t>
            </a:r>
            <a:r>
              <a:rPr lang="en-IN" sz="2400" b="1" dirty="0"/>
              <a:t>every iteration moves</a:t>
            </a:r>
            <a:r>
              <a:rPr lang="en-IN" sz="2400" dirty="0"/>
              <a:t> an </a:t>
            </a:r>
            <a:r>
              <a:rPr lang="en-IN" sz="2400" b="1" dirty="0"/>
              <a:t>element</a:t>
            </a:r>
            <a:r>
              <a:rPr lang="en-IN" sz="2400" dirty="0"/>
              <a:t> from </a:t>
            </a:r>
            <a:r>
              <a:rPr lang="en-IN" sz="2400" b="1" dirty="0"/>
              <a:t>unsorted portion</a:t>
            </a:r>
            <a:r>
              <a:rPr lang="en-IN" sz="2400" dirty="0"/>
              <a:t> to </a:t>
            </a:r>
            <a:r>
              <a:rPr lang="en-IN" sz="2400" b="1" dirty="0"/>
              <a:t>sorted portion</a:t>
            </a:r>
            <a:r>
              <a:rPr lang="en-IN" sz="2400" dirty="0"/>
              <a:t> until all the elements are sorted in the list.</a:t>
            </a:r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98611" y="1761566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3082" y="1976720"/>
            <a:ext cx="1172583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Steps for Insertion Sort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233082" y="2451078"/>
            <a:ext cx="533907" cy="835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766989" y="245107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Assume that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in the list is in </a:t>
            </a:r>
            <a:r>
              <a:rPr lang="en-IN" sz="2400" b="1" dirty="0">
                <a:solidFill>
                  <a:srgbClr val="C00000"/>
                </a:solidFill>
              </a:rPr>
              <a:t>sorted portion</a:t>
            </a:r>
            <a:r>
              <a:rPr lang="en-IN" sz="2400" dirty="0"/>
              <a:t> of the list and </a:t>
            </a:r>
            <a:r>
              <a:rPr lang="en-IN" sz="2400" b="1" dirty="0">
                <a:solidFill>
                  <a:srgbClr val="C00000"/>
                </a:solidFill>
              </a:rPr>
              <a:t>remaining all elements </a:t>
            </a:r>
            <a:r>
              <a:rPr lang="en-IN" sz="2400" dirty="0"/>
              <a:t>are in </a:t>
            </a:r>
            <a:r>
              <a:rPr lang="en-IN" sz="2400" b="1" dirty="0">
                <a:solidFill>
                  <a:srgbClr val="C00000"/>
                </a:solidFill>
              </a:rPr>
              <a:t>unsorted portion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33081" y="3294768"/>
            <a:ext cx="533907" cy="835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766988" y="329476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Select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and </a:t>
            </a:r>
            <a:r>
              <a:rPr lang="en-IN" sz="2400" b="1" dirty="0">
                <a:solidFill>
                  <a:srgbClr val="C00000"/>
                </a:solidFill>
              </a:rPr>
              <a:t>insert</a:t>
            </a:r>
            <a:r>
              <a:rPr lang="en-IN" sz="2400" dirty="0"/>
              <a:t> that element </a:t>
            </a:r>
            <a:r>
              <a:rPr lang="en-IN" sz="2400" b="1" dirty="0">
                <a:solidFill>
                  <a:srgbClr val="C00000"/>
                </a:solidFill>
              </a:rPr>
              <a:t>into the sorted </a:t>
            </a:r>
            <a:r>
              <a:rPr lang="en-IN" sz="2400" dirty="0"/>
              <a:t>list in </a:t>
            </a:r>
            <a:r>
              <a:rPr lang="en-IN" sz="2400" b="1" dirty="0">
                <a:solidFill>
                  <a:srgbClr val="C00000"/>
                </a:solidFill>
              </a:rPr>
              <a:t>order specified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233080" y="4125766"/>
            <a:ext cx="533907" cy="8309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766987" y="4125765"/>
            <a:ext cx="11191928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C00000"/>
                </a:solidFill>
              </a:rPr>
              <a:t>Repeat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the above process </a:t>
            </a:r>
            <a:r>
              <a:rPr lang="en-IN" sz="2400" b="1" dirty="0">
                <a:solidFill>
                  <a:srgbClr val="C00000"/>
                </a:solidFill>
              </a:rPr>
              <a:t>until all </a:t>
            </a:r>
            <a:r>
              <a:rPr lang="en-IN" sz="2400" dirty="0"/>
              <a:t>the </a:t>
            </a:r>
            <a:r>
              <a:rPr lang="en-IN" sz="2400" b="1" dirty="0">
                <a:solidFill>
                  <a:srgbClr val="C00000"/>
                </a:solidFill>
              </a:rPr>
              <a:t>elements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are </a:t>
            </a:r>
            <a:r>
              <a:rPr lang="en-IN" sz="2400" b="1" dirty="0">
                <a:solidFill>
                  <a:srgbClr val="C00000"/>
                </a:solidFill>
              </a:rPr>
              <a:t>moved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into</a:t>
            </a:r>
            <a:r>
              <a:rPr lang="en-IN" sz="2400" dirty="0"/>
              <a:t> the </a:t>
            </a:r>
            <a:r>
              <a:rPr lang="en-IN" sz="2400" b="1" dirty="0">
                <a:solidFill>
                  <a:srgbClr val="C00000"/>
                </a:solidFill>
              </a:rPr>
              <a:t>sorted list</a:t>
            </a:r>
            <a:r>
              <a:rPr lang="en-IN" sz="2400" b="1" dirty="0">
                <a:solidFill>
                  <a:schemeClr val="tx1"/>
                </a:solidFill>
              </a:rPr>
              <a:t>.</a:t>
            </a:r>
            <a:endParaRPr lang="en-US" sz="2400" b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8611" y="5190567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8CE1-40A6-AFDE-378B-B57C7C2E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Insertion sort is </a:t>
            </a:r>
            <a:r>
              <a:rPr lang="en-IN" b="1" dirty="0">
                <a:solidFill>
                  <a:srgbClr val="C00000"/>
                </a:solidFill>
              </a:rPr>
              <a:t>efficient</a:t>
            </a:r>
            <a:r>
              <a:rPr lang="en-IN" sz="2400" dirty="0"/>
              <a:t> sorting algorithm for </a:t>
            </a:r>
            <a:r>
              <a:rPr lang="en-IN" b="1" dirty="0">
                <a:solidFill>
                  <a:srgbClr val="C00000"/>
                </a:solidFill>
              </a:rPr>
              <a:t>smaller list </a:t>
            </a:r>
            <a:r>
              <a:rPr lang="en-IN" sz="2400" dirty="0"/>
              <a:t>and </a:t>
            </a:r>
            <a:r>
              <a:rPr lang="en-IN" b="1" dirty="0">
                <a:solidFill>
                  <a:srgbClr val="C00000"/>
                </a:solidFill>
              </a:rPr>
              <a:t>nearly</a:t>
            </a:r>
            <a:r>
              <a:rPr lang="en-IN" sz="2400" dirty="0"/>
              <a:t> </a:t>
            </a:r>
            <a:r>
              <a:rPr lang="en-IN" b="1" dirty="0">
                <a:solidFill>
                  <a:srgbClr val="C00000"/>
                </a:solidFill>
              </a:rPr>
              <a:t>sorted</a:t>
            </a:r>
            <a:r>
              <a:rPr lang="en-IN" sz="2400" dirty="0"/>
              <a:t> list.</a:t>
            </a:r>
          </a:p>
          <a:p>
            <a:r>
              <a:rPr lang="en-IN" dirty="0"/>
              <a:t>This algorithm is </a:t>
            </a:r>
            <a:r>
              <a:rPr lang="en-IN" b="1" dirty="0">
                <a:solidFill>
                  <a:srgbClr val="C00000"/>
                </a:solidFill>
              </a:rPr>
              <a:t>inefficient</a:t>
            </a:r>
            <a:r>
              <a:rPr lang="en-IN" dirty="0"/>
              <a:t> for </a:t>
            </a:r>
            <a:r>
              <a:rPr lang="en-IN" b="1" dirty="0">
                <a:solidFill>
                  <a:srgbClr val="C00000"/>
                </a:solidFill>
              </a:rPr>
              <a:t>large </a:t>
            </a:r>
            <a:r>
              <a:rPr lang="en-IN" dirty="0"/>
              <a:t>data sets.</a:t>
            </a:r>
          </a:p>
          <a:p>
            <a:r>
              <a:rPr lang="en-IN" sz="2400" dirty="0"/>
              <a:t>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sz="2400" dirty="0"/>
              <a:t>time complexity of th</a:t>
            </a:r>
            <a:r>
              <a:rPr lang="en-IN" dirty="0"/>
              <a:t>is algorithm is </a:t>
            </a:r>
            <a:r>
              <a:rPr lang="en-IN" b="1" dirty="0">
                <a:solidFill>
                  <a:srgbClr val="C00000"/>
                </a:solidFill>
              </a:rPr>
              <a:t>O(n</a:t>
            </a:r>
            <a:r>
              <a:rPr lang="en-IN" b="1" baseline="30000" dirty="0">
                <a:solidFill>
                  <a:srgbClr val="C00000"/>
                </a:solidFill>
              </a:rPr>
              <a:t>2</a:t>
            </a:r>
            <a:r>
              <a:rPr lang="en-IN" b="1" dirty="0">
                <a:solidFill>
                  <a:srgbClr val="C00000"/>
                </a:solidFill>
              </a:rPr>
              <a:t>)</a:t>
            </a:r>
            <a:r>
              <a:rPr lang="en-IN" dirty="0"/>
              <a:t>.</a:t>
            </a:r>
          </a:p>
          <a:p>
            <a:r>
              <a:rPr lang="en-IN" sz="2400" dirty="0"/>
              <a:t>If the list already sorted, </a:t>
            </a:r>
            <a:r>
              <a:rPr lang="en-IN" dirty="0"/>
              <a:t>then only n comparisons would be required. So the </a:t>
            </a:r>
            <a:r>
              <a:rPr lang="en-IN" b="1" dirty="0">
                <a:solidFill>
                  <a:srgbClr val="C00000"/>
                </a:solidFill>
              </a:rPr>
              <a:t>best case </a:t>
            </a:r>
            <a:r>
              <a:rPr lang="en-IN" sz="2400" dirty="0"/>
              <a:t>time complexity is </a:t>
            </a:r>
            <a:r>
              <a:rPr lang="en-IN" b="1" dirty="0">
                <a:solidFill>
                  <a:srgbClr val="C00000"/>
                </a:solidFill>
              </a:rPr>
              <a:t>O(n)</a:t>
            </a:r>
            <a:r>
              <a:rPr lang="en-IN" dirty="0"/>
              <a:t>.</a:t>
            </a:r>
          </a:p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stable sorting algorithm</a:t>
            </a:r>
            <a:r>
              <a:rPr lang="en-US" dirty="0"/>
              <a:t>, as the elements with the same keys maintain their relative order in the sorted output as well.</a:t>
            </a:r>
          </a:p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in-place algorithm </a:t>
            </a:r>
            <a:r>
              <a:rPr lang="en-US" dirty="0"/>
              <a:t>as it doesn’t require ant extra space to sort the elements.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675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0471" y="868100"/>
            <a:ext cx="8611564" cy="554184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: Insertion Sort (A,N)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Clr>
                <a:schemeClr val="tx2"/>
              </a:buClr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i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1 </a:t>
            </a:r>
          </a:p>
          <a:p>
            <a:pPr marL="0" indent="0">
              <a:lnSpc>
                <a:spcPct val="100000"/>
              </a:lnSpc>
              <a:buClr>
                <a:schemeClr val="tx2"/>
              </a:buClr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while i &lt; 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key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A[i]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j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i-1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while j &gt;= 0 and A[j] &gt; key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	A[j+1]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A[j]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	j ← j - 1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end while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A[j+1]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 key</a:t>
            </a:r>
            <a:endParaRPr lang="en-US" b="1" dirty="0">
              <a:latin typeface="Consolas" pitchFamily="49" charset="0"/>
              <a:ea typeface="+mj-ea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i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i + 1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end while</a:t>
            </a:r>
          </a:p>
        </p:txBody>
      </p:sp>
    </p:spTree>
    <p:extLst>
      <p:ext uri="{BB962C8B-B14F-4D97-AF65-F5344CB8AC3E}">
        <p14:creationId xmlns:p14="http://schemas.microsoft.com/office/powerpoint/2010/main" val="16402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874936" y="5645821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45980" y="4020278"/>
            <a:ext cx="2952643" cy="25341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41507" y="4020278"/>
            <a:ext cx="1610533" cy="10843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7FDEE6A0-C8D6-0374-CE0A-CE0921885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73124" y="81130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2030507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05000" y="20305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27685" y="231560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000" y="3947175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5000" y="39471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28065" y="4066183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1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7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47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81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529823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7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13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7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81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3017" y="4020279"/>
            <a:ext cx="25907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= i-1 = 1-1 = 0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29&gt;10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A[1] = A[0]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j=-1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 = -1</a:t>
            </a: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False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4E3E7-83C6-5898-5539-60A6F03DE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99617"/>
              </p:ext>
            </p:extLst>
          </p:nvPr>
        </p:nvGraphicFramePr>
        <p:xfrm>
          <a:off x="4215914" y="1349981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15135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47905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78E860-7BB6-3A65-723F-DA14A03D6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570563"/>
              </p:ext>
            </p:extLst>
          </p:nvPr>
        </p:nvGraphicFramePr>
        <p:xfrm>
          <a:off x="2023528" y="2797355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7C00CD-BC36-8771-70AB-513F458E0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09750"/>
              </p:ext>
            </p:extLst>
          </p:nvPr>
        </p:nvGraphicFramePr>
        <p:xfrm>
          <a:off x="2025004" y="333149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40A184B-208A-8540-6605-52348D101237}"/>
              </a:ext>
            </a:extLst>
          </p:cNvPr>
          <p:cNvSpPr/>
          <p:nvPr/>
        </p:nvSpPr>
        <p:spPr>
          <a:xfrm>
            <a:off x="3207936" y="48839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906424" y="564582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A[-1+1] = 10 </a:t>
            </a:r>
          </a:p>
          <a:p>
            <a:r>
              <a:rPr lang="en-US" b="1" dirty="0">
                <a:solidFill>
                  <a:srgbClr val="C00000"/>
                </a:solidFill>
              </a:rPr>
              <a:t>A[0] = 10         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66E91D-5827-8029-3530-1ED4730EBB31}"/>
              </a:ext>
            </a:extLst>
          </p:cNvPr>
          <p:cNvSpPr/>
          <p:nvPr/>
        </p:nvSpPr>
        <p:spPr>
          <a:xfrm>
            <a:off x="2670768" y="487719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304F17-F9E4-CD5E-5EA5-AECEFE4B372A}"/>
              </a:ext>
            </a:extLst>
          </p:cNvPr>
          <p:cNvCxnSpPr/>
          <p:nvPr/>
        </p:nvCxnSpPr>
        <p:spPr>
          <a:xfrm flipV="1">
            <a:off x="7741296" y="4445319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FF23DC-6C74-8BAF-6D31-08B16F9B3F9D}"/>
              </a:ext>
            </a:extLst>
          </p:cNvPr>
          <p:cNvCxnSpPr/>
          <p:nvPr/>
        </p:nvCxnSpPr>
        <p:spPr>
          <a:xfrm flipV="1">
            <a:off x="7676443" y="5811607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3CF236-D59D-2509-7363-9C5944D51465}"/>
              </a:ext>
            </a:extLst>
          </p:cNvPr>
          <p:cNvSpPr txBox="1"/>
          <p:nvPr/>
        </p:nvSpPr>
        <p:spPr>
          <a:xfrm>
            <a:off x="8025205" y="2581835"/>
            <a:ext cx="14092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31447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5" grpId="0"/>
      <p:bldP spid="7" grpId="0" animBg="1"/>
      <p:bldP spid="9" grpId="0"/>
      <p:bldP spid="12" grpId="0" animBg="1"/>
      <p:bldP spid="16" grpId="0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5" grpId="0" animBg="1"/>
      <p:bldP spid="43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957242" y="4764777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37256" y="1431816"/>
            <a:ext cx="2908714" cy="2793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61231" y="1378549"/>
            <a:ext cx="1610533" cy="10479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49706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2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5267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8240" y="1520597"/>
            <a:ext cx="26564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2-1 = 1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29&gt;14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A[2] = A[1]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j=0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10&gt;14  False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991640" y="478141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A[0+1] = 14 </a:t>
            </a:r>
          </a:p>
          <a:p>
            <a:r>
              <a:rPr lang="en-US" b="1" dirty="0">
                <a:solidFill>
                  <a:srgbClr val="C00000"/>
                </a:solidFill>
              </a:rPr>
              <a:t>A[1] = 14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75BCA-F959-3384-BF06-0089FB2CFE4F}"/>
              </a:ext>
            </a:extLst>
          </p:cNvPr>
          <p:cNvSpPr/>
          <p:nvPr/>
        </p:nvSpPr>
        <p:spPr>
          <a:xfrm>
            <a:off x="3061578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A7E587-89DF-E440-92CE-11D650EEA686}"/>
              </a:ext>
            </a:extLst>
          </p:cNvPr>
          <p:cNvCxnSpPr>
            <a:cxnSpLocks/>
          </p:cNvCxnSpPr>
          <p:nvPr/>
        </p:nvCxnSpPr>
        <p:spPr>
          <a:xfrm flipV="1">
            <a:off x="7652217" y="3367055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DAC01-84B9-B9ED-121A-203FD83506D8}"/>
              </a:ext>
            </a:extLst>
          </p:cNvPr>
          <p:cNvSpPr/>
          <p:nvPr/>
        </p:nvSpPr>
        <p:spPr>
          <a:xfrm>
            <a:off x="2540604" y="242925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652217" y="1930879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0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6185777" y="4646123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04441" y="2705462"/>
            <a:ext cx="2908714" cy="1447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61231" y="1378548"/>
            <a:ext cx="1610533" cy="10537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49706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3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5267" y="242547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2547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1"/>
            <a:ext cx="548640" cy="448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4531" y="2783340"/>
            <a:ext cx="26564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3-1 = 2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29&gt;37  False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6252894" y="466224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A[2+1] = 37 </a:t>
            </a:r>
          </a:p>
          <a:p>
            <a:r>
              <a:rPr lang="en-US" b="1" dirty="0">
                <a:solidFill>
                  <a:srgbClr val="C00000"/>
                </a:solidFill>
              </a:rPr>
              <a:t>A[3] = 37         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637808" y="318491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01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371317" y="4764777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075617" y="1103341"/>
            <a:ext cx="2908714" cy="53908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239792" y="1378549"/>
            <a:ext cx="1610533" cy="10479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301637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4</a:t>
            </a:r>
          </a:p>
          <a:p>
            <a:r>
              <a:rPr lang="en-US" b="1" dirty="0" err="1"/>
              <a:t>i</a:t>
            </a:r>
            <a:r>
              <a:rPr lang="en-US" b="1" dirty="0"/>
              <a:t>&lt;5</a:t>
            </a:r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7723" y="1138856"/>
            <a:ext cx="265649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4-1 = 3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37&gt;13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A[4] = A[3]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j=2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A[3] = A[2]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j=1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14&gt;13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A[2] = A[1]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j=0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10&gt;13  False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441223" y="478141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A[0+1] = 13 </a:t>
            </a:r>
          </a:p>
          <a:p>
            <a:r>
              <a:rPr lang="en-US" b="1" dirty="0">
                <a:solidFill>
                  <a:srgbClr val="C00000"/>
                </a:solidFill>
              </a:rPr>
              <a:t>A[1] = 13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75BCA-F959-3384-BF06-0089FB2CFE4F}"/>
              </a:ext>
            </a:extLst>
          </p:cNvPr>
          <p:cNvSpPr/>
          <p:nvPr/>
        </p:nvSpPr>
        <p:spPr>
          <a:xfrm>
            <a:off x="3061578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A7E587-89DF-E440-92CE-11D650EEA686}"/>
              </a:ext>
            </a:extLst>
          </p:cNvPr>
          <p:cNvCxnSpPr>
            <a:cxnSpLocks/>
          </p:cNvCxnSpPr>
          <p:nvPr/>
        </p:nvCxnSpPr>
        <p:spPr>
          <a:xfrm flipV="1">
            <a:off x="7243844" y="2976435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DAC01-84B9-B9ED-121A-203FD83506D8}"/>
              </a:ext>
            </a:extLst>
          </p:cNvPr>
          <p:cNvSpPr/>
          <p:nvPr/>
        </p:nvSpPr>
        <p:spPr>
          <a:xfrm>
            <a:off x="2546571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243844" y="156689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B6A5F3-A631-1045-C210-96E5051C1E59}"/>
              </a:ext>
            </a:extLst>
          </p:cNvPr>
          <p:cNvSpPr/>
          <p:nvPr/>
        </p:nvSpPr>
        <p:spPr>
          <a:xfrm>
            <a:off x="4138921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161C6-2286-CF78-FCB3-DC41590DA6DC}"/>
              </a:ext>
            </a:extLst>
          </p:cNvPr>
          <p:cNvSpPr/>
          <p:nvPr/>
        </p:nvSpPr>
        <p:spPr>
          <a:xfrm>
            <a:off x="3606879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847D10-CA5E-1C2E-BF5A-A10D9796885B}"/>
              </a:ext>
            </a:extLst>
          </p:cNvPr>
          <p:cNvCxnSpPr>
            <a:cxnSpLocks/>
          </p:cNvCxnSpPr>
          <p:nvPr/>
        </p:nvCxnSpPr>
        <p:spPr>
          <a:xfrm flipV="1">
            <a:off x="7228644" y="4309057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55671F2-1D09-BADC-9EF4-AF07A36293F9}"/>
              </a:ext>
            </a:extLst>
          </p:cNvPr>
          <p:cNvSpPr/>
          <p:nvPr/>
        </p:nvSpPr>
        <p:spPr>
          <a:xfrm>
            <a:off x="3052635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81B389-2ECB-E46E-70BE-22C002DE594F}"/>
              </a:ext>
            </a:extLst>
          </p:cNvPr>
          <p:cNvCxnSpPr>
            <a:cxnSpLocks/>
          </p:cNvCxnSpPr>
          <p:nvPr/>
        </p:nvCxnSpPr>
        <p:spPr>
          <a:xfrm flipV="1">
            <a:off x="7197422" y="566882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8320291-EB72-5393-20AC-CB4AC6DF4704}"/>
              </a:ext>
            </a:extLst>
          </p:cNvPr>
          <p:cNvSpPr/>
          <p:nvPr/>
        </p:nvSpPr>
        <p:spPr>
          <a:xfrm>
            <a:off x="2501193" y="243704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9925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 animBg="1"/>
      <p:bldP spid="4" grpId="1" animBg="1"/>
      <p:bldP spid="17" grpId="0" animBg="1"/>
      <p:bldP spid="3" grpId="0" animBg="1"/>
      <p:bldP spid="5" grpId="0" animBg="1"/>
      <p:bldP spid="7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239792" y="1378549"/>
            <a:ext cx="1610533" cy="7989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301637" y="1431817"/>
            <a:ext cx="128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5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False</a:t>
            </a:r>
            <a:endParaRPr lang="en-US" b="1" dirty="0"/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6A5F3-A631-1045-C210-96E5051C1E59}"/>
              </a:ext>
            </a:extLst>
          </p:cNvPr>
          <p:cNvSpPr/>
          <p:nvPr/>
        </p:nvSpPr>
        <p:spPr>
          <a:xfrm>
            <a:off x="4138921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161C6-2286-CF78-FCB3-DC41590DA6DC}"/>
              </a:ext>
            </a:extLst>
          </p:cNvPr>
          <p:cNvSpPr/>
          <p:nvPr/>
        </p:nvSpPr>
        <p:spPr>
          <a:xfrm>
            <a:off x="3606879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671F2-1D09-BADC-9EF4-AF07A36293F9}"/>
              </a:ext>
            </a:extLst>
          </p:cNvPr>
          <p:cNvSpPr/>
          <p:nvPr/>
        </p:nvSpPr>
        <p:spPr>
          <a:xfrm>
            <a:off x="3045737" y="2441568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20291-EB72-5393-20AC-CB4AC6DF4704}"/>
              </a:ext>
            </a:extLst>
          </p:cNvPr>
          <p:cNvSpPr/>
          <p:nvPr/>
        </p:nvSpPr>
        <p:spPr>
          <a:xfrm>
            <a:off x="2509902" y="243285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863D7B-F8A1-7AEF-20CA-DF0BBD6947C4}"/>
              </a:ext>
            </a:extLst>
          </p:cNvPr>
          <p:cNvCxnSpPr/>
          <p:nvPr/>
        </p:nvCxnSpPr>
        <p:spPr>
          <a:xfrm>
            <a:off x="5943600" y="2426499"/>
            <a:ext cx="0" cy="151782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4FC5CAE-2888-1A26-7F76-B13A2B99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39507"/>
              </p:ext>
            </p:extLst>
          </p:nvPr>
        </p:nvGraphicFramePr>
        <p:xfrm>
          <a:off x="4153724" y="4193306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7B97A0-8BC6-793B-E981-DD601A38E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29568"/>
              </p:ext>
            </p:extLst>
          </p:nvPr>
        </p:nvGraphicFramePr>
        <p:xfrm>
          <a:off x="4138921" y="473455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667C034-2CA4-E950-4C1C-0F6FB9130A12}"/>
              </a:ext>
            </a:extLst>
          </p:cNvPr>
          <p:cNvSpPr txBox="1"/>
          <p:nvPr/>
        </p:nvSpPr>
        <p:spPr>
          <a:xfrm>
            <a:off x="6177160" y="2967910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Sorted Array</a:t>
            </a:r>
          </a:p>
        </p:txBody>
      </p:sp>
    </p:spTree>
    <p:extLst>
      <p:ext uri="{BB962C8B-B14F-4D97-AF65-F5344CB8AC3E}">
        <p14:creationId xmlns:p14="http://schemas.microsoft.com/office/powerpoint/2010/main" val="104402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2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" grpId="0" animBg="1"/>
      <p:bldP spid="5" grpId="0" animBg="1"/>
      <p:bldP spid="7" grpId="0" animBg="1"/>
      <p:bldP spid="9" grpId="0" animBg="1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73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B84742"/>
              </a:buClr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operation of sorting </a:t>
            </a:r>
            <a:r>
              <a:rPr lang="en-US" dirty="0"/>
              <a:t>is closely related to </a:t>
            </a:r>
            <a:r>
              <a:rPr lang="en-US" b="1" dirty="0">
                <a:solidFill>
                  <a:srgbClr val="C00000"/>
                </a:solidFill>
              </a:rPr>
              <a:t>process of merging.</a:t>
            </a:r>
          </a:p>
          <a:p>
            <a:pPr>
              <a:buClr>
                <a:srgbClr val="B84742"/>
              </a:buClr>
            </a:pPr>
            <a:r>
              <a:rPr lang="en-US" dirty="0"/>
              <a:t>Merge Sort is a </a:t>
            </a:r>
            <a:r>
              <a:rPr lang="en-US" b="1" dirty="0">
                <a:solidFill>
                  <a:srgbClr val="C00000"/>
                </a:solidFill>
              </a:rPr>
              <a:t>divide and conquer algorithm.</a:t>
            </a:r>
          </a:p>
          <a:p>
            <a:pPr>
              <a:buClr>
                <a:srgbClr val="B84742"/>
              </a:buClr>
            </a:pPr>
            <a:r>
              <a:rPr lang="en-US" dirty="0"/>
              <a:t>It is based on the </a:t>
            </a:r>
            <a:r>
              <a:rPr lang="en-US" b="1" dirty="0">
                <a:solidFill>
                  <a:srgbClr val="C00000"/>
                </a:solidFill>
              </a:rPr>
              <a:t>idea of breaking down a list into several sub-lists </a:t>
            </a:r>
            <a:r>
              <a:rPr lang="en-US" dirty="0"/>
              <a:t>until each sub list consists of a </a:t>
            </a:r>
            <a:r>
              <a:rPr lang="en-US" b="1" dirty="0">
                <a:solidFill>
                  <a:srgbClr val="C00000"/>
                </a:solidFill>
              </a:rPr>
              <a:t>single element.</a:t>
            </a:r>
          </a:p>
          <a:p>
            <a:pPr>
              <a:buClr>
                <a:srgbClr val="B84742"/>
              </a:buClr>
            </a:pPr>
            <a:r>
              <a:rPr lang="en-US" b="1" dirty="0">
                <a:solidFill>
                  <a:srgbClr val="C00000"/>
                </a:solidFill>
              </a:rPr>
              <a:t>Merging those sub lists </a:t>
            </a:r>
            <a:r>
              <a:rPr lang="en-US" dirty="0"/>
              <a:t>in a manner that results into a sorted list.</a:t>
            </a:r>
          </a:p>
          <a:p>
            <a:pPr>
              <a:buClr>
                <a:srgbClr val="B84742"/>
              </a:buClr>
            </a:pPr>
            <a:r>
              <a:rPr lang="en-US" b="1" dirty="0"/>
              <a:t>Procedure</a:t>
            </a:r>
          </a:p>
          <a:p>
            <a:pPr lvl="1">
              <a:buClr>
                <a:srgbClr val="B84742"/>
              </a:buClr>
            </a:pPr>
            <a:r>
              <a:rPr lang="en-US" b="1" dirty="0">
                <a:solidFill>
                  <a:srgbClr val="C00000"/>
                </a:solidFill>
              </a:rPr>
              <a:t>Divide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unsorted </a:t>
            </a:r>
            <a:r>
              <a:rPr lang="en-US" b="1" dirty="0">
                <a:solidFill>
                  <a:srgbClr val="C00000"/>
                </a:solidFill>
              </a:rPr>
              <a:t>list into N sub </a:t>
            </a:r>
            <a:r>
              <a:rPr lang="en-US" dirty="0"/>
              <a:t>lists, </a:t>
            </a:r>
            <a:r>
              <a:rPr lang="en-US" b="1" dirty="0"/>
              <a:t>each containing 1 element.</a:t>
            </a:r>
          </a:p>
          <a:p>
            <a:pPr lvl="1">
              <a:buClr>
                <a:srgbClr val="B84742"/>
              </a:buClr>
            </a:pPr>
            <a:r>
              <a:rPr lang="en-US" dirty="0"/>
              <a:t>Take </a:t>
            </a:r>
            <a:r>
              <a:rPr lang="en-US" b="1" dirty="0">
                <a:solidFill>
                  <a:srgbClr val="C00000"/>
                </a:solidFill>
              </a:rPr>
              <a:t>adjacent pairs </a:t>
            </a:r>
            <a:r>
              <a:rPr lang="en-US" dirty="0"/>
              <a:t>of two singleton lists and </a:t>
            </a:r>
            <a:r>
              <a:rPr lang="en-US" b="1" dirty="0">
                <a:solidFill>
                  <a:srgbClr val="C00000"/>
                </a:solidFill>
              </a:rPr>
              <a:t>merge them </a:t>
            </a:r>
            <a:r>
              <a:rPr lang="en-US" dirty="0"/>
              <a:t>to form a </a:t>
            </a:r>
            <a:r>
              <a:rPr lang="en-US" b="1" dirty="0">
                <a:solidFill>
                  <a:srgbClr val="C00000"/>
                </a:solidFill>
              </a:rPr>
              <a:t>list of 2 elements</a:t>
            </a:r>
            <a:r>
              <a:rPr lang="en-US" dirty="0"/>
              <a:t>. N will now convert into N/2 lists of size 2.</a:t>
            </a:r>
          </a:p>
          <a:p>
            <a:pPr lvl="1">
              <a:buClr>
                <a:srgbClr val="B84742"/>
              </a:buClr>
            </a:pPr>
            <a:r>
              <a:rPr lang="en-US" dirty="0"/>
              <a:t>Repeat the process till a single sorted list of obtained.</a:t>
            </a:r>
          </a:p>
          <a:p>
            <a:pPr>
              <a:buClr>
                <a:srgbClr val="B84742"/>
              </a:buClr>
            </a:pPr>
            <a:r>
              <a:rPr lang="en-US" dirty="0"/>
              <a:t>Time complexity is </a:t>
            </a:r>
            <a:r>
              <a:rPr lang="en-US" b="1" dirty="0">
                <a:solidFill>
                  <a:srgbClr val="C00000"/>
                </a:solidFill>
              </a:rPr>
              <a:t>O(n log 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07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05200" y="1345582"/>
          <a:ext cx="524933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451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88391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964" y="1874517"/>
          <a:ext cx="52493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1752600" y="2420617"/>
            <a:ext cx="868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48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3810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4572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5334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6096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6858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7620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8382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3048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5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20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82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51124" y="2604251"/>
            <a:ext cx="541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Step 1: Split the selected array (as evenly as possible)</a:t>
            </a:r>
            <a:endParaRPr lang="en-US" b="1" dirty="0"/>
          </a:p>
        </p:txBody>
      </p:sp>
      <p:sp>
        <p:nvSpPr>
          <p:cNvPr id="26" name="Rectangle 25"/>
          <p:cNvSpPr/>
          <p:nvPr/>
        </p:nvSpPr>
        <p:spPr>
          <a:xfrm>
            <a:off x="2057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2819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3581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4343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30" name="Rectangle 29"/>
          <p:cNvSpPr/>
          <p:nvPr/>
        </p:nvSpPr>
        <p:spPr>
          <a:xfrm>
            <a:off x="2057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19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81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43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162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7924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36" name="Rectangle 35"/>
          <p:cNvSpPr/>
          <p:nvPr/>
        </p:nvSpPr>
        <p:spPr>
          <a:xfrm>
            <a:off x="8686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9448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162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924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5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686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448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3581400" y="3931917"/>
            <a:ext cx="2514600" cy="7620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096000" y="3931917"/>
            <a:ext cx="2590800" cy="7620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37312" y="1066800"/>
            <a:ext cx="7384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Step: Select the left </a:t>
            </a:r>
            <a:r>
              <a:rPr lang="en-US" b="1" dirty="0" err="1"/>
              <a:t>subarray</a:t>
            </a:r>
            <a:r>
              <a:rPr lang="en-US" b="1" dirty="0"/>
              <a:t>, </a:t>
            </a:r>
            <a:r>
              <a:rPr lang="en-IN" b="1" dirty="0"/>
              <a:t>Split the selected array (as evenly as possible)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3048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3810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4572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2286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39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8001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8763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9525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7239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5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81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2743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981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38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800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038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00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743200" y="2133600"/>
            <a:ext cx="10668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810000" y="2133600"/>
            <a:ext cx="9906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76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1676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895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2895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39" name="Rectangle 38"/>
          <p:cNvSpPr/>
          <p:nvPr/>
        </p:nvSpPr>
        <p:spPr>
          <a:xfrm>
            <a:off x="3810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5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495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20574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7432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41148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8006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981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743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4038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800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cxnSp>
        <p:nvCxnSpPr>
          <p:cNvPr id="56" name="Straight Arrow Connector 55"/>
          <p:cNvCxnSpPr>
            <a:stCxn id="34" idx="2"/>
          </p:cNvCxnSpPr>
          <p:nvPr/>
        </p:nvCxnSpPr>
        <p:spPr>
          <a:xfrm>
            <a:off x="2057400" y="4267200"/>
            <a:ext cx="6858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6" idx="2"/>
          </p:cNvCxnSpPr>
          <p:nvPr/>
        </p:nvCxnSpPr>
        <p:spPr>
          <a:xfrm flipH="1">
            <a:off x="27432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8" idx="2"/>
          </p:cNvCxnSpPr>
          <p:nvPr/>
        </p:nvCxnSpPr>
        <p:spPr>
          <a:xfrm>
            <a:off x="4191000" y="4267200"/>
            <a:ext cx="609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0" idx="2"/>
          </p:cNvCxnSpPr>
          <p:nvPr/>
        </p:nvCxnSpPr>
        <p:spPr>
          <a:xfrm flipH="1">
            <a:off x="48006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260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64" name="Rectangle 63"/>
          <p:cNvSpPr/>
          <p:nvPr/>
        </p:nvSpPr>
        <p:spPr>
          <a:xfrm>
            <a:off x="3022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65" name="Rectangle 64"/>
          <p:cNvSpPr/>
          <p:nvPr/>
        </p:nvSpPr>
        <p:spPr>
          <a:xfrm>
            <a:off x="3784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66" name="Rectangle 65"/>
          <p:cNvSpPr/>
          <p:nvPr/>
        </p:nvSpPr>
        <p:spPr>
          <a:xfrm>
            <a:off x="4546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2743200" y="4953000"/>
            <a:ext cx="1041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3810000" y="4953000"/>
            <a:ext cx="990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934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72" name="Rectangle 71"/>
          <p:cNvSpPr/>
          <p:nvPr/>
        </p:nvSpPr>
        <p:spPr>
          <a:xfrm>
            <a:off x="7696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73" name="Rectangle 72"/>
          <p:cNvSpPr/>
          <p:nvPr/>
        </p:nvSpPr>
        <p:spPr>
          <a:xfrm>
            <a:off x="6934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96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91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76" name="Rectangle 75"/>
          <p:cNvSpPr/>
          <p:nvPr/>
        </p:nvSpPr>
        <p:spPr>
          <a:xfrm>
            <a:off x="9753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77" name="Rectangle 76"/>
          <p:cNvSpPr/>
          <p:nvPr/>
        </p:nvSpPr>
        <p:spPr>
          <a:xfrm>
            <a:off x="8991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53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7696200" y="2133600"/>
            <a:ext cx="10668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8763000" y="2133600"/>
            <a:ext cx="9906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629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82" name="Rectangle 81"/>
          <p:cNvSpPr/>
          <p:nvPr/>
        </p:nvSpPr>
        <p:spPr>
          <a:xfrm>
            <a:off x="6629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848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84" name="Rectangle 83"/>
          <p:cNvSpPr/>
          <p:nvPr/>
        </p:nvSpPr>
        <p:spPr>
          <a:xfrm>
            <a:off x="7848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76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86" name="Rectangle 85"/>
          <p:cNvSpPr/>
          <p:nvPr/>
        </p:nvSpPr>
        <p:spPr>
          <a:xfrm>
            <a:off x="876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298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88" name="Rectangle 87"/>
          <p:cNvSpPr/>
          <p:nvPr/>
        </p:nvSpPr>
        <p:spPr>
          <a:xfrm>
            <a:off x="98298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flipH="1">
            <a:off x="70104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76962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90678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7536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934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94" name="Rectangle 93"/>
          <p:cNvSpPr/>
          <p:nvPr/>
        </p:nvSpPr>
        <p:spPr>
          <a:xfrm>
            <a:off x="7696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95" name="Rectangle 94"/>
          <p:cNvSpPr/>
          <p:nvPr/>
        </p:nvSpPr>
        <p:spPr>
          <a:xfrm>
            <a:off x="8991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96" name="Rectangle 95"/>
          <p:cNvSpPr/>
          <p:nvPr/>
        </p:nvSpPr>
        <p:spPr>
          <a:xfrm>
            <a:off x="9753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cxnSp>
        <p:nvCxnSpPr>
          <p:cNvPr id="97" name="Straight Arrow Connector 96"/>
          <p:cNvCxnSpPr>
            <a:stCxn id="81" idx="2"/>
          </p:cNvCxnSpPr>
          <p:nvPr/>
        </p:nvCxnSpPr>
        <p:spPr>
          <a:xfrm>
            <a:off x="7010400" y="4267200"/>
            <a:ext cx="6858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3" idx="2"/>
          </p:cNvCxnSpPr>
          <p:nvPr/>
        </p:nvCxnSpPr>
        <p:spPr>
          <a:xfrm flipH="1">
            <a:off x="76962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2"/>
          </p:cNvCxnSpPr>
          <p:nvPr/>
        </p:nvCxnSpPr>
        <p:spPr>
          <a:xfrm>
            <a:off x="9144000" y="4267200"/>
            <a:ext cx="609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7" idx="2"/>
          </p:cNvCxnSpPr>
          <p:nvPr/>
        </p:nvCxnSpPr>
        <p:spPr>
          <a:xfrm flipH="1">
            <a:off x="96774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213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2" name="Rectangle 101"/>
          <p:cNvSpPr/>
          <p:nvPr/>
        </p:nvSpPr>
        <p:spPr>
          <a:xfrm>
            <a:off x="7975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03" name="Rectangle 102"/>
          <p:cNvSpPr/>
          <p:nvPr/>
        </p:nvSpPr>
        <p:spPr>
          <a:xfrm>
            <a:off x="8737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04" name="Rectangle 103"/>
          <p:cNvSpPr/>
          <p:nvPr/>
        </p:nvSpPr>
        <p:spPr>
          <a:xfrm>
            <a:off x="9499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696200" y="4953000"/>
            <a:ext cx="1041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>
            <a:off x="8763000" y="4953000"/>
            <a:ext cx="990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12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08" name="Rectangle 107"/>
          <p:cNvSpPr/>
          <p:nvPr/>
        </p:nvSpPr>
        <p:spPr>
          <a:xfrm>
            <a:off x="388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9" name="Rectangle 108"/>
          <p:cNvSpPr/>
          <p:nvPr/>
        </p:nvSpPr>
        <p:spPr>
          <a:xfrm>
            <a:off x="464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10" name="Rectangle 109"/>
          <p:cNvSpPr/>
          <p:nvPr/>
        </p:nvSpPr>
        <p:spPr>
          <a:xfrm>
            <a:off x="5410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11" name="Rectangle 110"/>
          <p:cNvSpPr/>
          <p:nvPr/>
        </p:nvSpPr>
        <p:spPr>
          <a:xfrm>
            <a:off x="6172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12" name="Rectangle 111"/>
          <p:cNvSpPr/>
          <p:nvPr/>
        </p:nvSpPr>
        <p:spPr>
          <a:xfrm>
            <a:off x="693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3" name="Rectangle 112"/>
          <p:cNvSpPr/>
          <p:nvPr/>
        </p:nvSpPr>
        <p:spPr>
          <a:xfrm>
            <a:off x="769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14" name="Rectangle 113"/>
          <p:cNvSpPr/>
          <p:nvPr/>
        </p:nvSpPr>
        <p:spPr>
          <a:xfrm>
            <a:off x="845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3784600" y="5638800"/>
            <a:ext cx="23876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6172200" y="5638800"/>
            <a:ext cx="2590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29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1" grpId="0" animBg="1"/>
      <p:bldP spid="52" grpId="0" animBg="1"/>
      <p:bldP spid="53" grpId="0" animBg="1"/>
      <p:bldP spid="54" grpId="0" animBg="1"/>
      <p:bldP spid="63" grpId="0" animBg="1"/>
      <p:bldP spid="64" grpId="0" animBg="1"/>
      <p:bldP spid="65" grpId="0" animBg="1"/>
      <p:bldP spid="66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3" grpId="0" animBg="1"/>
      <p:bldP spid="94" grpId="0" animBg="1"/>
      <p:bldP spid="95" grpId="0" animBg="1"/>
      <p:bldP spid="96" grpId="0" animBg="1"/>
      <p:bldP spid="101" grpId="0" animBg="1"/>
      <p:bldP spid="102" grpId="0" animBg="1"/>
      <p:bldP spid="103" grpId="0" animBg="1"/>
      <p:bldP spid="104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3370" y="926429"/>
            <a:ext cx="11334913" cy="39446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panose="05040102010807070707" pitchFamily="18" charset="2"/>
              <a:buNone/>
            </a:pP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(low, high)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global array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a[low : high]; [having high-low+1 elements]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low &lt; high 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mid = floor((low + high)/2);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(low, mid);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(mid+1, high);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merge(low, mid, high);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57608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/>
          </p:cNvSpPr>
          <p:nvPr/>
        </p:nvSpPr>
        <p:spPr>
          <a:xfrm>
            <a:off x="131178" y="11997"/>
            <a:ext cx="8543590" cy="65556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Wingdings 3" panose="05040102010807070707" pitchFamily="18" charset="2"/>
              <a:buNone/>
            </a:pPr>
            <a:r>
              <a:rPr lang="en-IN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merge(low, mid, high)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global array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a[low : high];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local integer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h, i, j, k;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local array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b[low : high];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h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low;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i  low;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j  mid+1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while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h &lt;= mid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and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&lt;= high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a[h] &lt;= a[j]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    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   h  h+1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else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   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a[j];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   j  j+1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i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i+1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675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/>
          </p:cNvSpPr>
          <p:nvPr/>
        </p:nvSpPr>
        <p:spPr>
          <a:xfrm>
            <a:off x="131178" y="192477"/>
            <a:ext cx="8543590" cy="61709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[ we should handle any remaining elements]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h &gt; mid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k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j to high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  <a:endParaRPr lang="en-IN" sz="2000" b="1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	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a[k];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	i  i+1;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else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k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h to mid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  <a:endParaRPr lang="en-IN" sz="2000" b="1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		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a[k];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	i  i+1;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 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[copy merged array back to a[] ]</a:t>
            </a:r>
            <a:endParaRPr lang="en-IN" sz="2000" dirty="0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k  low to high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a[k]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b[k];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184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11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b="1" dirty="0">
                <a:solidFill>
                  <a:srgbClr val="C00000"/>
                </a:solidFill>
              </a:rPr>
              <a:t>Quick sort </a:t>
            </a:r>
            <a:r>
              <a:rPr lang="en-US" dirty="0"/>
              <a:t>is a highly efficient sorting algorithm and is based on </a:t>
            </a:r>
            <a:r>
              <a:rPr lang="en-US" b="1" dirty="0">
                <a:solidFill>
                  <a:srgbClr val="C00000"/>
                </a:solidFill>
              </a:rPr>
              <a:t>partitioning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of array </a:t>
            </a:r>
            <a:r>
              <a:rPr lang="en-US" dirty="0"/>
              <a:t>of data into </a:t>
            </a:r>
            <a:r>
              <a:rPr lang="en-US" b="1" dirty="0">
                <a:solidFill>
                  <a:srgbClr val="C00000"/>
                </a:solidFill>
              </a:rPr>
              <a:t>smaller arrays</a:t>
            </a:r>
            <a:r>
              <a:rPr lang="en-US" dirty="0"/>
              <a:t>.</a:t>
            </a:r>
          </a:p>
          <a:p>
            <a:pPr>
              <a:buClr>
                <a:srgbClr val="C00000"/>
              </a:buClr>
            </a:pPr>
            <a:r>
              <a:rPr lang="en-US" dirty="0"/>
              <a:t>Quick Sort is </a:t>
            </a:r>
            <a:r>
              <a:rPr lang="en-US" b="1" dirty="0">
                <a:solidFill>
                  <a:srgbClr val="C00000"/>
                </a:solidFill>
              </a:rPr>
              <a:t>divide and conquer </a:t>
            </a:r>
            <a:r>
              <a:rPr lang="en-US" dirty="0"/>
              <a:t>algorithm.</a:t>
            </a:r>
          </a:p>
          <a:p>
            <a:pPr>
              <a:buClr>
                <a:srgbClr val="C00000"/>
              </a:buClr>
            </a:pPr>
            <a:r>
              <a:rPr lang="en-US" dirty="0"/>
              <a:t>At each step of the method, the goal is to place a particular record in its final position within the table.</a:t>
            </a:r>
          </a:p>
          <a:p>
            <a:pPr>
              <a:buClr>
                <a:srgbClr val="C00000"/>
              </a:buClr>
            </a:pPr>
            <a:r>
              <a:rPr lang="en-US" dirty="0"/>
              <a:t>In doing so all the records which precedes this record will have smaller keys, while all records that follows it have larger keys.</a:t>
            </a:r>
          </a:p>
          <a:p>
            <a:pPr>
              <a:buClr>
                <a:srgbClr val="C00000"/>
              </a:buClr>
            </a:pPr>
            <a:r>
              <a:rPr lang="en-US" dirty="0"/>
              <a:t>This particular records is </a:t>
            </a:r>
            <a:r>
              <a:rPr lang="en-US" dirty="0">
                <a:solidFill>
                  <a:srgbClr val="C00000"/>
                </a:solidFill>
              </a:rPr>
              <a:t>termed </a:t>
            </a:r>
            <a:r>
              <a:rPr lang="en-US" b="1" dirty="0">
                <a:solidFill>
                  <a:srgbClr val="C00000"/>
                </a:solidFill>
              </a:rPr>
              <a:t>pivot element</a:t>
            </a:r>
            <a:r>
              <a:rPr lang="en-US" dirty="0"/>
              <a:t>.</a:t>
            </a:r>
          </a:p>
          <a:p>
            <a:pPr>
              <a:buClr>
                <a:srgbClr val="C00000"/>
              </a:buClr>
            </a:pPr>
            <a:r>
              <a:rPr lang="en-US" dirty="0"/>
              <a:t>The same process can then be  applied to each of these </a:t>
            </a:r>
            <a:r>
              <a:rPr lang="en-US" dirty="0" err="1"/>
              <a:t>subtables</a:t>
            </a:r>
            <a:r>
              <a:rPr lang="en-US" dirty="0"/>
              <a:t> and repeated until all records are placed in their positions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6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</a:t>
            </a:r>
            <a:r>
              <a:rPr lang="en-US" b="1" dirty="0">
                <a:solidFill>
                  <a:srgbClr val="C00000"/>
                </a:solidFill>
              </a:rPr>
              <a:t>different versions </a:t>
            </a:r>
            <a:r>
              <a:rPr lang="en-US" dirty="0"/>
              <a:t>of Quick Sort </a:t>
            </a:r>
            <a:r>
              <a:rPr lang="en-US" b="1" dirty="0">
                <a:solidFill>
                  <a:srgbClr val="C00000"/>
                </a:solidFill>
              </a:rPr>
              <a:t>that pick pivot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different ways.</a:t>
            </a:r>
          </a:p>
          <a:p>
            <a:pPr lvl="1"/>
            <a:r>
              <a:rPr lang="en-US" dirty="0"/>
              <a:t>Always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pick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first element as pivot</a:t>
            </a:r>
            <a:r>
              <a:rPr lang="en-US" dirty="0"/>
              <a:t>. (in our case we have consider this version).</a:t>
            </a:r>
          </a:p>
          <a:p>
            <a:pPr lvl="1"/>
            <a:r>
              <a:rPr lang="en-US" dirty="0"/>
              <a:t>Always pick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last element as pivot</a:t>
            </a:r>
            <a:r>
              <a:rPr lang="en-US" dirty="0"/>
              <a:t> (implemented below)</a:t>
            </a:r>
          </a:p>
          <a:p>
            <a:pPr lvl="1"/>
            <a:r>
              <a:rPr lang="en-US" dirty="0"/>
              <a:t>Pick a </a:t>
            </a:r>
            <a:r>
              <a:rPr lang="en-US" b="1" dirty="0">
                <a:solidFill>
                  <a:srgbClr val="C00000"/>
                </a:solidFill>
              </a:rPr>
              <a:t>random element as pivot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Pick </a:t>
            </a:r>
            <a:r>
              <a:rPr lang="en-US" b="1" dirty="0">
                <a:solidFill>
                  <a:srgbClr val="C00000"/>
                </a:solidFill>
              </a:rPr>
              <a:t>median as pivot</a:t>
            </a:r>
            <a:r>
              <a:rPr lang="en-US" dirty="0"/>
              <a:t>.</a:t>
            </a:r>
          </a:p>
          <a:p>
            <a:r>
              <a:rPr lang="en-US" dirty="0"/>
              <a:t>Quick sort partitions an array and then calls itself recursively twice to sort the two resulting sub arrays.</a:t>
            </a:r>
          </a:p>
          <a:p>
            <a:r>
              <a:rPr lang="en-US" dirty="0"/>
              <a:t>This algorithm is quite </a:t>
            </a:r>
            <a:r>
              <a:rPr lang="en-US" b="1" dirty="0">
                <a:solidFill>
                  <a:srgbClr val="C00000"/>
                </a:solidFill>
              </a:rPr>
              <a:t>efficient for large-sized data sets</a:t>
            </a:r>
          </a:p>
          <a:p>
            <a:r>
              <a:rPr lang="en-US" dirty="0"/>
              <a:t>Its average and </a:t>
            </a:r>
            <a:r>
              <a:rPr lang="en-US" b="1" dirty="0">
                <a:solidFill>
                  <a:srgbClr val="C00000"/>
                </a:solidFill>
              </a:rPr>
              <a:t>worst case complexity</a:t>
            </a:r>
            <a:r>
              <a:rPr lang="en-US" dirty="0"/>
              <a:t> are of</a:t>
            </a:r>
            <a:r>
              <a:rPr lang="en-US" b="1" dirty="0">
                <a:solidFill>
                  <a:srgbClr val="C00000"/>
                </a:solidFill>
              </a:rPr>
              <a:t> Ο(n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where n is the number of items.</a:t>
            </a:r>
          </a:p>
        </p:txBody>
      </p:sp>
    </p:spTree>
    <p:extLst>
      <p:ext uri="{BB962C8B-B14F-4D97-AF65-F5344CB8AC3E}">
        <p14:creationId xmlns:p14="http://schemas.microsoft.com/office/powerpoint/2010/main" val="418392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200" y="498168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95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51129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63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97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31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65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2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86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95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9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63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97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31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65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58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58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1341" y="5748633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cxnSp>
        <p:nvCxnSpPr>
          <p:cNvPr id="53" name="Straight Arrow Connector 52"/>
          <p:cNvCxnSpPr>
            <a:stCxn id="51" idx="0"/>
            <a:endCxn id="4" idx="2"/>
          </p:cNvCxnSpPr>
          <p:nvPr/>
        </p:nvCxnSpPr>
        <p:spPr>
          <a:xfrm flipH="1" flipV="1">
            <a:off x="3771901" y="5362689"/>
            <a:ext cx="1999" cy="3859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41497" y="5749081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55" name="Straight Arrow Connector 54"/>
          <p:cNvCxnSpPr>
            <a:stCxn id="54" idx="0"/>
          </p:cNvCxnSpPr>
          <p:nvPr/>
        </p:nvCxnSpPr>
        <p:spPr>
          <a:xfrm flipH="1" flipV="1">
            <a:off x="8562476" y="5363137"/>
            <a:ext cx="1998" cy="3859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96381" y="3451414"/>
            <a:ext cx="933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Pivot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Element</a:t>
            </a:r>
          </a:p>
        </p:txBody>
      </p:sp>
      <p:cxnSp>
        <p:nvCxnSpPr>
          <p:cNvPr id="20" name="Straight Arrow Connector 19"/>
          <p:cNvCxnSpPr>
            <a:stCxn id="30" idx="2"/>
            <a:endCxn id="12" idx="0"/>
          </p:cNvCxnSpPr>
          <p:nvPr/>
        </p:nvCxnSpPr>
        <p:spPr>
          <a:xfrm>
            <a:off x="3763016" y="4097745"/>
            <a:ext cx="8885" cy="48053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36000" y="789381"/>
            <a:ext cx="11520000" cy="461665"/>
          </a:xfrm>
          <a:prstGeom prst="rect">
            <a:avLst/>
          </a:prstGeom>
          <a:ln>
            <a:solidFill>
              <a:srgbClr val="B8474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Sort Following Array using Quick Sort Algorithm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000" y="1401217"/>
            <a:ext cx="11520000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We are considering </a:t>
            </a:r>
            <a:r>
              <a:rPr lang="en-US" sz="2400" b="1" dirty="0">
                <a:solidFill>
                  <a:srgbClr val="C00000"/>
                </a:solidFill>
              </a:rPr>
              <a:t>first element as pivot element</a:t>
            </a:r>
            <a:r>
              <a:rPr lang="en-US" sz="2400" dirty="0"/>
              <a:t>, so </a:t>
            </a:r>
            <a:r>
              <a:rPr lang="en-US" sz="2400" b="1" dirty="0">
                <a:solidFill>
                  <a:srgbClr val="C00000"/>
                </a:solidFill>
              </a:rPr>
              <a:t>Lower bound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First Index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Upper bound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Last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000" y="2391817"/>
            <a:ext cx="11520000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We need to find our proper position of Pivot element in sorted array and perform same operations recursively  for two sub array</a:t>
            </a:r>
          </a:p>
        </p:txBody>
      </p:sp>
    </p:spTree>
    <p:extLst>
      <p:ext uri="{BB962C8B-B14F-4D97-AF65-F5344CB8AC3E}">
        <p14:creationId xmlns:p14="http://schemas.microsoft.com/office/powerpoint/2010/main" val="16237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26" grpId="0" animBg="1"/>
      <p:bldP spid="27" grpId="0" animBg="1"/>
      <p:bldP spid="28" grpId="0" animBg="1"/>
      <p:bldP spid="51" grpId="0"/>
      <p:bldP spid="54" grpId="0"/>
      <p:bldP spid="30" grpId="0"/>
      <p:bldP spid="3" grpId="0" animBg="1"/>
      <p:bldP spid="21" grpId="0" animBg="1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4702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8749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83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17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51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85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19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49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83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17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51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85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19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78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78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918" y="823858"/>
            <a:ext cx="4528801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76719" y="4692157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LB = 0, UB =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6719" y="507315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7037" y="507315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6719" y="537162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J=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7037" y="5371625"/>
            <a:ext cx="4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4729" y="470017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= 42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901517" y="1754960"/>
            <a:ext cx="311304" cy="443173"/>
            <a:chOff x="3701591" y="1754959"/>
            <a:chExt cx="311304" cy="443173"/>
          </a:xfrm>
        </p:grpSpPr>
        <p:sp>
          <p:nvSpPr>
            <p:cNvPr id="32" name="TextBox 3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0204296" y="1812100"/>
            <a:ext cx="311304" cy="443173"/>
            <a:chOff x="3701591" y="1754959"/>
            <a:chExt cx="311304" cy="443173"/>
          </a:xfrm>
        </p:grpSpPr>
        <p:sp>
          <p:nvSpPr>
            <p:cNvPr id="37" name="TextBox 36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4676719" y="5691145"/>
            <a:ext cx="78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FLAG=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1942" y="568189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6894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49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83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17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51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85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19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678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445048" y="2979812"/>
            <a:ext cx="311304" cy="443173"/>
            <a:chOff x="3701591" y="1754959"/>
            <a:chExt cx="311304" cy="443173"/>
          </a:xfrm>
        </p:grpSpPr>
        <p:sp>
          <p:nvSpPr>
            <p:cNvPr id="52" name="TextBox 5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9726431" y="2976958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>
          <a:xfrm>
            <a:off x="5874936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1936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9" name="Freeform 58"/>
          <p:cNvSpPr/>
          <p:nvPr/>
        </p:nvSpPr>
        <p:spPr>
          <a:xfrm flipV="1">
            <a:off x="6125183" y="2427058"/>
            <a:ext cx="2690100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172331" y="23816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00600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340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49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83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17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751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85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19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678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012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5954298" y="4205028"/>
            <a:ext cx="311304" cy="443173"/>
            <a:chOff x="3701591" y="1754959"/>
            <a:chExt cx="311304" cy="443173"/>
          </a:xfrm>
        </p:grpSpPr>
        <p:sp>
          <p:nvSpPr>
            <p:cNvPr id="72" name="TextBox 7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8652984" y="4205028"/>
            <a:ext cx="311304" cy="443173"/>
            <a:chOff x="3701591" y="1754959"/>
            <a:chExt cx="311304" cy="443173"/>
          </a:xfrm>
        </p:grpSpPr>
        <p:sp>
          <p:nvSpPr>
            <p:cNvPr id="75" name="TextBox 7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0" name="Rectangle 79"/>
          <p:cNvSpPr/>
          <p:nvPr/>
        </p:nvSpPr>
        <p:spPr>
          <a:xfrm>
            <a:off x="6408336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006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2" name="Freeform 81"/>
          <p:cNvSpPr/>
          <p:nvPr/>
        </p:nvSpPr>
        <p:spPr>
          <a:xfrm flipV="1">
            <a:off x="5032468" y="3671407"/>
            <a:ext cx="1673133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5550056" y="36212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394050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0.04571 3.33333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-0.04492 -3.7037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92 -3.7037E-6 L -0.0875 -3.7037E-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7 L 0.0474 -3.7037E-7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4 -3.7037E-7 L 0.08998 -3.7037E-7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-3.7037E-7 L -0.04258 -3.7037E-7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58 -3.7037E-7 L -0.08671 -3.7037E-7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72 -3.7037E-7 L -0.13425 -3.7037E-7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138 -3.7037E-7 L -0.17396 2.96296E-6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7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28" grpId="0"/>
      <p:bldP spid="29" grpId="0"/>
      <p:bldP spid="30" grpId="0"/>
      <p:bldP spid="31" grpId="0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80" grpId="0" animBg="1"/>
      <p:bldP spid="81" grpId="0" animBg="1"/>
      <p:bldP spid="82" grpId="0" animBg="1"/>
      <p:bldP spid="8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14" y="861641"/>
            <a:ext cx="4560605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46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80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0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32410" y="21102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58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92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26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60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46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80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0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24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58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92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26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60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18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52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8817" y="121920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6385" y="121920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6732410" y="1173486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239000" y="1173486"/>
            <a:ext cx="0" cy="9368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05400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8800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9736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5215127" y="3006562"/>
            <a:ext cx="311304" cy="602827"/>
            <a:chOff x="3701591" y="1754960"/>
            <a:chExt cx="311304" cy="602827"/>
          </a:xfrm>
        </p:grpSpPr>
        <p:sp>
          <p:nvSpPr>
            <p:cNvPr id="40" name="TextBox 39"/>
            <p:cNvSpPr txBox="1"/>
            <p:nvPr/>
          </p:nvSpPr>
          <p:spPr>
            <a:xfrm>
              <a:off x="3701591" y="198845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41" name="Straight Arrow Connector 40"/>
            <p:cNvCxnSpPr>
              <a:stCxn id="40" idx="0"/>
            </p:cNvCxnSpPr>
            <p:nvPr/>
          </p:nvCxnSpPr>
          <p:spPr>
            <a:xfrm flipV="1">
              <a:off x="3857243" y="1754960"/>
              <a:ext cx="0" cy="233495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811928" y="3006562"/>
            <a:ext cx="311304" cy="602828"/>
            <a:chOff x="3701591" y="1754960"/>
            <a:chExt cx="311304" cy="602828"/>
          </a:xfrm>
        </p:grpSpPr>
        <p:sp>
          <p:nvSpPr>
            <p:cNvPr id="43" name="TextBox 42"/>
            <p:cNvSpPr txBox="1"/>
            <p:nvPr/>
          </p:nvSpPr>
          <p:spPr>
            <a:xfrm>
              <a:off x="3701591" y="198845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44" name="Straight Arrow Connector 43"/>
            <p:cNvCxnSpPr>
              <a:stCxn id="43" idx="0"/>
            </p:cNvCxnSpPr>
            <p:nvPr/>
          </p:nvCxnSpPr>
          <p:spPr>
            <a:xfrm flipV="1">
              <a:off x="3857243" y="1754960"/>
              <a:ext cx="0" cy="233496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5" name="Rectangle 44"/>
          <p:cNvSpPr/>
          <p:nvPr/>
        </p:nvSpPr>
        <p:spPr>
          <a:xfrm>
            <a:off x="5105400" y="270176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05400" y="4131416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388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97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13136" y="4131416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65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99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133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467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060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029200" y="3619146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658074" y="3651804"/>
            <a:ext cx="0" cy="434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12217" y="368859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733" y="3682484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38800" y="4718604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9736" y="4718604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5769122" y="5023405"/>
            <a:ext cx="311304" cy="588313"/>
            <a:chOff x="3701591" y="1754959"/>
            <a:chExt cx="311304" cy="588313"/>
          </a:xfrm>
        </p:grpSpPr>
        <p:sp>
          <p:nvSpPr>
            <p:cNvPr id="67" name="TextBox 66"/>
            <p:cNvSpPr txBox="1"/>
            <p:nvPr/>
          </p:nvSpPr>
          <p:spPr>
            <a:xfrm>
              <a:off x="3701591" y="19739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775296" y="5023405"/>
            <a:ext cx="311304" cy="588313"/>
            <a:chOff x="3701591" y="1754959"/>
            <a:chExt cx="311304" cy="588313"/>
          </a:xfrm>
        </p:grpSpPr>
        <p:sp>
          <p:nvSpPr>
            <p:cNvPr id="70" name="TextBox 69"/>
            <p:cNvSpPr txBox="1"/>
            <p:nvPr/>
          </p:nvSpPr>
          <p:spPr>
            <a:xfrm>
              <a:off x="3701591" y="19739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2" name="Rectangle 71"/>
          <p:cNvSpPr/>
          <p:nvPr/>
        </p:nvSpPr>
        <p:spPr>
          <a:xfrm>
            <a:off x="5638800" y="4718604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5400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8800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97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13136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65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99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133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467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72600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06000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5029200" y="5611230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186754" y="5814678"/>
            <a:ext cx="0" cy="2501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258492" y="5630012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2009" y="5828705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9736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75948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33333E-6 L 0.04284 -3.33333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3.33333E-6 L -0.04101 -3.33333E-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101 -3.33333E-6 L -0.08554 -3.33333E-6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15 -3.33333E-6 L -0.13099 -3.33333E-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0444 1.11111E-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L -0.03815 1.11111E-6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15 1.11111E-6 L -0.08255 1.11111E-6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33" grpId="0" animBg="1"/>
      <p:bldP spid="34" grpId="0" animBg="1"/>
      <p:bldP spid="35" grpId="0" animBg="1"/>
      <p:bldP spid="45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2" grpId="0"/>
      <p:bldP spid="63" grpId="0"/>
      <p:bldP spid="64" grpId="0" animBg="1"/>
      <p:bldP spid="65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5" grpId="0"/>
      <p:bldP spid="86" grpId="0"/>
      <p:bldP spid="8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" y="838200"/>
            <a:ext cx="4473519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054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8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97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31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65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99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33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67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58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2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26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60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9953" y="989024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2429" y="937274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7246536" y="1066800"/>
            <a:ext cx="0" cy="5649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90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82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16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287235" y="2906642"/>
            <a:ext cx="311304" cy="443173"/>
            <a:chOff x="3701591" y="1754959"/>
            <a:chExt cx="311304" cy="443173"/>
          </a:xfrm>
        </p:grpSpPr>
        <p:sp>
          <p:nvSpPr>
            <p:cNvPr id="36" name="TextBox 35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518496" y="2906642"/>
            <a:ext cx="311304" cy="443173"/>
            <a:chOff x="3701591" y="1754959"/>
            <a:chExt cx="311304" cy="443173"/>
          </a:xfrm>
        </p:grpSpPr>
        <p:sp>
          <p:nvSpPr>
            <p:cNvPr id="39" name="TextBox 38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Rectangle 40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4" name="Freeform 43"/>
          <p:cNvSpPr/>
          <p:nvPr/>
        </p:nvSpPr>
        <p:spPr>
          <a:xfrm flipV="1">
            <a:off x="6464802" y="2303107"/>
            <a:ext cx="51619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400801" y="2001878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465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99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58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392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05600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5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388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97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131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058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392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650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984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26343" y="312420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1222" y="3344173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9217" y="426720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15619" y="4267200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05800" y="4331732"/>
            <a:ext cx="0" cy="2733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0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04322 1.48148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2 1.48148E-6 L 0.08528 1.48148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62229E-17 1.48148E-6 L -0.0474 1.48148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4 1.48148E-6 L -0.08919 1.48148E-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19 1.48148E-6 L -0.13203 1.48148E-6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03 1.48148E-6 L -0.1776 1.48148E-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982 1.48148E-6 L -0.21628 1.48148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8" grpId="0" animBg="1"/>
      <p:bldP spid="49" grpId="0" animBg="1"/>
      <p:bldP spid="50" grpId="0" animBg="1"/>
      <p:bldP spid="51" grpId="0" animBg="1"/>
      <p:bldP spid="58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/>
      <p:bldP spid="79" grpId="0"/>
      <p:bldP spid="80" grpId="0" animBg="1"/>
      <p:bldP spid="81" grpId="0"/>
      <p:bldP spid="8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33786" y="2181837"/>
            <a:ext cx="311304" cy="443173"/>
            <a:chOff x="3701591" y="1754959"/>
            <a:chExt cx="311304" cy="443173"/>
          </a:xfrm>
        </p:grpSpPr>
        <p:sp>
          <p:nvSpPr>
            <p:cNvPr id="5" name="TextBox 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Freeform 6"/>
          <p:cNvSpPr/>
          <p:nvPr/>
        </p:nvSpPr>
        <p:spPr>
          <a:xfrm flipV="1">
            <a:off x="7593758" y="2563327"/>
            <a:ext cx="10583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00029" y="2495831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388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48600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446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786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9593580" y="2181837"/>
            <a:ext cx="311304" cy="443173"/>
            <a:chOff x="3701591" y="1754959"/>
            <a:chExt cx="311304" cy="443173"/>
          </a:xfrm>
        </p:grpSpPr>
        <p:sp>
          <p:nvSpPr>
            <p:cNvPr id="14" name="TextBox 13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39700" y="914400"/>
            <a:ext cx="4537019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51587" y="120178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6387" y="127798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3884" y="18337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4464" y="1833798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7864" y="1833798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9916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78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918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485512" y="3140867"/>
            <a:ext cx="311304" cy="443173"/>
            <a:chOff x="3701591" y="1754959"/>
            <a:chExt cx="311304" cy="443173"/>
          </a:xfrm>
        </p:grpSpPr>
        <p:sp>
          <p:nvSpPr>
            <p:cNvPr id="30" name="TextBox 29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9046056" y="3140867"/>
            <a:ext cx="311304" cy="443173"/>
            <a:chOff x="3701591" y="1754959"/>
            <a:chExt cx="311304" cy="443173"/>
          </a:xfrm>
        </p:grpSpPr>
        <p:sp>
          <p:nvSpPr>
            <p:cNvPr id="33" name="TextBox 32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780" y="2824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1" name="Freeform 40"/>
          <p:cNvSpPr/>
          <p:nvPr/>
        </p:nvSpPr>
        <p:spPr>
          <a:xfrm flipV="1">
            <a:off x="8619096" y="1518984"/>
            <a:ext cx="6011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619097" y="1462857"/>
            <a:ext cx="642227" cy="33855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3" name="Freeform 42"/>
          <p:cNvSpPr/>
          <p:nvPr/>
        </p:nvSpPr>
        <p:spPr>
          <a:xfrm flipV="1">
            <a:off x="7450720" y="4063438"/>
            <a:ext cx="62648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7454367" y="4018951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3716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5405" y="356398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0274" y="356398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7327179" y="4658398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8395819" y="4658398"/>
            <a:ext cx="311304" cy="443173"/>
            <a:chOff x="3701591" y="1754959"/>
            <a:chExt cx="311304" cy="443173"/>
          </a:xfrm>
        </p:grpSpPr>
        <p:sp>
          <p:nvSpPr>
            <p:cNvPr id="58" name="TextBox 57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0" name="Rectangle 59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3716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4826000" y="3563986"/>
            <a:ext cx="684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8392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5800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8305800" y="3658155"/>
            <a:ext cx="0" cy="5773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826000" y="5240386"/>
            <a:ext cx="684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509000" y="5872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4371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09200" y="5872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758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8537797" y="5284321"/>
            <a:ext cx="445955" cy="633927"/>
            <a:chOff x="5743796" y="4996934"/>
            <a:chExt cx="445955" cy="633927"/>
          </a:xfrm>
        </p:grpSpPr>
        <p:sp>
          <p:nvSpPr>
            <p:cNvPr id="70" name="TextBox 69"/>
            <p:cNvSpPr txBox="1"/>
            <p:nvPr/>
          </p:nvSpPr>
          <p:spPr>
            <a:xfrm>
              <a:off x="5754216" y="4996934"/>
              <a:ext cx="425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743796" y="5261529"/>
              <a:ext cx="445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UB</a:t>
              </a:r>
            </a:p>
          </p:txBody>
        </p:sp>
      </p:grpSp>
      <p:cxnSp>
        <p:nvCxnSpPr>
          <p:cNvPr id="72" name="Straight Connector 71"/>
          <p:cNvCxnSpPr/>
          <p:nvPr/>
        </p:nvCxnSpPr>
        <p:spPr>
          <a:xfrm>
            <a:off x="9042400" y="5392786"/>
            <a:ext cx="0" cy="4249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10109200" y="5392786"/>
            <a:ext cx="0" cy="4249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10184519" y="5260439"/>
            <a:ext cx="445955" cy="633927"/>
            <a:chOff x="7390518" y="4973052"/>
            <a:chExt cx="445955" cy="633927"/>
          </a:xfrm>
        </p:grpSpPr>
        <p:sp>
          <p:nvSpPr>
            <p:cNvPr id="74" name="TextBox 73"/>
            <p:cNvSpPr txBox="1"/>
            <p:nvPr/>
          </p:nvSpPr>
          <p:spPr>
            <a:xfrm>
              <a:off x="7400938" y="4973052"/>
              <a:ext cx="425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LB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390518" y="5237647"/>
              <a:ext cx="445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UB</a:t>
              </a:r>
            </a:p>
          </p:txBody>
        </p:sp>
      </p:grpSp>
      <p:sp>
        <p:nvSpPr>
          <p:cNvPr id="78" name="Rectangle 77"/>
          <p:cNvSpPr/>
          <p:nvPr/>
        </p:nvSpPr>
        <p:spPr>
          <a:xfrm>
            <a:off x="85090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092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86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420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8293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1633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756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422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8000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04244 -4.81481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45 -4.81481E-6 L 0.08606 -4.81481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-0.04336 -4.81481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7 L 0.04597 3.7037E-7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4597 3.7037E-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0.04623 4.07407E-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23 4.07407E-6 L 0.08763 4.07407E-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07407E-6 L -0.04358 4.07407E-6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6" grpId="0" animBg="1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7" grpId="0" animBg="1"/>
      <p:bldP spid="40" grpId="0" animBg="1"/>
      <p:bldP spid="41" grpId="0" animBg="1"/>
      <p:bldP spid="42" grpId="0"/>
      <p:bldP spid="43" grpId="0" animBg="1"/>
      <p:bldP spid="44" grpId="0"/>
      <p:bldP spid="46" grpId="0" animBg="1"/>
      <p:bldP spid="50" grpId="0" animBg="1"/>
      <p:bldP spid="52" grpId="0"/>
      <p:bldP spid="53" grpId="0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QUICK_SORT(K,LB,UB)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791" y="849923"/>
            <a:ext cx="5760000" cy="5355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itchFamily="49" charset="0"/>
                <a:cs typeface="Consolas" pitchFamily="49" charset="0"/>
              </a:rPr>
              <a:t>1. [Initialize]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 FLAG </a:t>
            </a:r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2. [Perform Sort]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IF   LB &lt; UB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Then I  LB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J  UB + 1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KEY  K[LB]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FLAG = true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I  I+1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</a:t>
            </a:r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    I  I + 1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J  J – 1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Repeat While K[J] &gt; KEY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    J  J –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</a:t>
            </a:r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I&lt;J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Then K[I] --- K[J]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Else FLAG  FALSE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b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</a:br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K[LB] --- K[J]</a:t>
            </a:r>
            <a:endParaRPr lang="pt-BR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53210" y="849923"/>
            <a:ext cx="576000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CALL QUICK_SORT(K,LB, J-1)</a:t>
            </a:r>
          </a:p>
          <a:p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CALL QUICK_SORT(K,J+1, UB)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3</a:t>
            </a:r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. [Finished]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</a:rPr>
              <a:t> Return</a:t>
            </a:r>
            <a:endParaRPr lang="pt-BR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785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97277 47317 (CE Department)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24" y="5211251"/>
            <a:ext cx="1350943" cy="1359878"/>
          </a:xfrm>
        </p:spPr>
      </p:pic>
    </p:spTree>
    <p:extLst>
      <p:ext uri="{BB962C8B-B14F-4D97-AF65-F5344CB8AC3E}">
        <p14:creationId xmlns:p14="http://schemas.microsoft.com/office/powerpoint/2010/main" val="27562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19403</TotalTime>
  <Words>4102</Words>
  <Application>Microsoft Office PowerPoint</Application>
  <PresentationFormat>Widescreen</PresentationFormat>
  <Paragraphs>1357</Paragraphs>
  <Slides>53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Open Sans Semibold</vt:lpstr>
      <vt:lpstr>Wingdings 2</vt:lpstr>
      <vt:lpstr>Open Sans</vt:lpstr>
      <vt:lpstr>Times New Roman</vt:lpstr>
      <vt:lpstr>Wingdings</vt:lpstr>
      <vt:lpstr>Roboto Condensed</vt:lpstr>
      <vt:lpstr>Calibri</vt:lpstr>
      <vt:lpstr>Roboto Condensed Light</vt:lpstr>
      <vt:lpstr>Consolas</vt:lpstr>
      <vt:lpstr>Arial</vt:lpstr>
      <vt:lpstr>Segoe UI Black</vt:lpstr>
      <vt:lpstr>Wingdings 3</vt:lpstr>
      <vt:lpstr>Office Theme</vt:lpstr>
      <vt:lpstr>Unit-5  Searching &amp;  Sorting</vt:lpstr>
      <vt:lpstr>PowerPoint Presentation</vt:lpstr>
      <vt:lpstr>Linear Search</vt:lpstr>
      <vt:lpstr>Linear/Sequential Search</vt:lpstr>
      <vt:lpstr>Sequential Search – Algorithm &amp; Example</vt:lpstr>
      <vt:lpstr>Binary Search</vt:lpstr>
      <vt:lpstr>Binary Search</vt:lpstr>
      <vt:lpstr>Binary Search – Algorithm (Iterative Approach)</vt:lpstr>
      <vt:lpstr>Binary Search - Algorithm</vt:lpstr>
      <vt:lpstr>Binary Search - Algorithm</vt:lpstr>
      <vt:lpstr>Binary Search – Algorithm (Recursive Approach)</vt:lpstr>
      <vt:lpstr>Linear Search vs. Binary Search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SELECTION_SORT(K,N)</vt:lpstr>
      <vt:lpstr>SELECTION_SORT(K,N)</vt:lpstr>
      <vt:lpstr>Bubble Sort</vt:lpstr>
      <vt:lpstr>Bubble Sort</vt:lpstr>
      <vt:lpstr>Bubble Sort</vt:lpstr>
      <vt:lpstr>Bubble Sort</vt:lpstr>
      <vt:lpstr>BUBBLE_SORT(K,N)</vt:lpstr>
      <vt:lpstr>Procedure: BUBBLE_SORT (K, N)</vt:lpstr>
      <vt:lpstr>Insertion Sort</vt:lpstr>
      <vt:lpstr>Insertion Sort</vt:lpstr>
      <vt:lpstr>Insertion Sort</vt:lpstr>
      <vt:lpstr>Algorithm : Insertion Sort (A,N)</vt:lpstr>
      <vt:lpstr>Example : Insertion Sort</vt:lpstr>
      <vt:lpstr>Example : Insertion Sort</vt:lpstr>
      <vt:lpstr>Example : Insertion Sort</vt:lpstr>
      <vt:lpstr>Example : Insertion Sort</vt:lpstr>
      <vt:lpstr>Example : Insertion Sort</vt:lpstr>
      <vt:lpstr>Merge Sort</vt:lpstr>
      <vt:lpstr>Merge Sort</vt:lpstr>
      <vt:lpstr>Merge Sort</vt:lpstr>
      <vt:lpstr>Merge Sort</vt:lpstr>
      <vt:lpstr>Merge Sort</vt:lpstr>
      <vt:lpstr>PowerPoint Presentation</vt:lpstr>
      <vt:lpstr>PowerPoint Presentation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Algorithm: QUICK_SORT(K,LB,UB)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&amp; Sorting - Data Structure</dc:title>
  <dc:creator>ADMIN</dc:creator>
  <cp:keywords>Searching &amp; Sorting, Data Structure, Darshan Institute of Engineering &amp; Technology, DIET</cp:keywords>
  <cp:lastModifiedBy>DELL</cp:lastModifiedBy>
  <cp:revision>1037</cp:revision>
  <dcterms:created xsi:type="dcterms:W3CDTF">2020-05-01T05:09:15Z</dcterms:created>
  <dcterms:modified xsi:type="dcterms:W3CDTF">2025-08-20T07:22:25Z</dcterms:modified>
</cp:coreProperties>
</file>